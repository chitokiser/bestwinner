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eg"/>
  <Override PartName="/ppt/notesSlides/notesSlide1.xml" ContentType="application/vnd.openxmlformats-officedocument.presentationml.notesSlide+xml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20.jpg" ContentType="image/jpeg"/>
  <Override PartName="/ppt/media/image3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64" r:id="rId2"/>
    <p:sldId id="265" r:id="rId3"/>
    <p:sldId id="266" r:id="rId4"/>
    <p:sldId id="315" r:id="rId5"/>
    <p:sldId id="316" r:id="rId6"/>
    <p:sldId id="317" r:id="rId7"/>
    <p:sldId id="270" r:id="rId8"/>
    <p:sldId id="299" r:id="rId9"/>
    <p:sldId id="300" r:id="rId10"/>
    <p:sldId id="262" r:id="rId11"/>
    <p:sldId id="303" r:id="rId12"/>
    <p:sldId id="302" r:id="rId13"/>
    <p:sldId id="304" r:id="rId14"/>
    <p:sldId id="305" r:id="rId15"/>
    <p:sldId id="313" r:id="rId16"/>
    <p:sldId id="306" r:id="rId17"/>
    <p:sldId id="307" r:id="rId18"/>
    <p:sldId id="308" r:id="rId19"/>
    <p:sldId id="281" r:id="rId20"/>
    <p:sldId id="282" r:id="rId21"/>
    <p:sldId id="319" r:id="rId22"/>
    <p:sldId id="295" r:id="rId23"/>
    <p:sldId id="296" r:id="rId24"/>
    <p:sldId id="320" r:id="rId2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6168"/>
    <a:srgbClr val="E01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14" autoAdjust="0"/>
  </p:normalViewPr>
  <p:slideViewPr>
    <p:cSldViewPr>
      <p:cViewPr varScale="1">
        <p:scale>
          <a:sx n="90" d="100"/>
          <a:sy n="90" d="100"/>
        </p:scale>
        <p:origin x="1218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FF20E-2BBF-41C6-A316-4515F4BA12C4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24430-5B08-47B9-9392-2B3FEE0191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07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24430-5B08-47B9-9392-2B3FEE0191C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60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9901" y="746161"/>
            <a:ext cx="7010400" cy="61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86800" y="6405372"/>
            <a:ext cx="1908047" cy="3246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772668"/>
            <a:ext cx="10692765" cy="601980"/>
          </a:xfrm>
          <a:custGeom>
            <a:avLst/>
            <a:gdLst/>
            <a:ahLst/>
            <a:cxnLst/>
            <a:rect l="l" t="t" r="r" b="b"/>
            <a:pathLst>
              <a:path w="10692765" h="601980">
                <a:moveTo>
                  <a:pt x="10692384" y="0"/>
                </a:moveTo>
                <a:lnTo>
                  <a:pt x="0" y="0"/>
                </a:lnTo>
                <a:lnTo>
                  <a:pt x="0" y="601980"/>
                </a:lnTo>
                <a:lnTo>
                  <a:pt x="10692384" y="601980"/>
                </a:lnTo>
                <a:lnTo>
                  <a:pt x="10692384" y="0"/>
                </a:lnTo>
                <a:close/>
              </a:path>
            </a:pathLst>
          </a:custGeom>
          <a:solidFill>
            <a:srgbClr val="E01F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901" y="746161"/>
            <a:ext cx="7564755" cy="61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6767" y="1645400"/>
            <a:ext cx="6008370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60932"/>
            <a:ext cx="10692130" cy="49453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7134" y="6266180"/>
            <a:ext cx="405765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dirty="0">
                <a:latin typeface="Calibri"/>
                <a:cs typeface="Calibri"/>
              </a:rPr>
              <a:t>LGIS</a:t>
            </a:r>
            <a:r>
              <a:rPr sz="1750" b="1" spc="-20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Elevator</a:t>
            </a:r>
            <a:r>
              <a:rPr sz="1750" b="1" spc="-10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Factory</a:t>
            </a:r>
            <a:r>
              <a:rPr sz="1750" b="1" spc="-10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year</a:t>
            </a:r>
            <a:r>
              <a:rPr sz="1750" b="1" spc="-35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of</a:t>
            </a:r>
            <a:r>
              <a:rPr sz="1750" b="1" spc="-15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1998</a:t>
            </a:r>
            <a:r>
              <a:rPr sz="1750" b="1" spc="5" dirty="0">
                <a:latin typeface="Calibri"/>
                <a:cs typeface="Calibri"/>
              </a:rPr>
              <a:t> </a:t>
            </a:r>
            <a:r>
              <a:rPr sz="1750" b="1" dirty="0">
                <a:latin typeface="Calibri"/>
                <a:cs typeface="Calibri"/>
              </a:rPr>
              <a:t>in</a:t>
            </a:r>
            <a:r>
              <a:rPr sz="1750" b="1" spc="5" dirty="0">
                <a:latin typeface="Calibri"/>
                <a:cs typeface="Calibri"/>
              </a:rPr>
              <a:t> </a:t>
            </a:r>
            <a:r>
              <a:rPr sz="1750" b="1" spc="-10" dirty="0">
                <a:latin typeface="Calibri"/>
                <a:cs typeface="Calibri"/>
              </a:rPr>
              <a:t>Korea.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6158" y="3132582"/>
            <a:ext cx="6644640" cy="4373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901" y="746161"/>
            <a:ext cx="7727599" cy="60721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-80" dirty="0"/>
              <a:t>Global</a:t>
            </a:r>
            <a:r>
              <a:rPr sz="3850" spc="-140" dirty="0"/>
              <a:t> </a:t>
            </a:r>
            <a:r>
              <a:rPr sz="3850" spc="-100" dirty="0"/>
              <a:t>LGS</a:t>
            </a:r>
            <a:r>
              <a:rPr sz="3850" spc="-140" dirty="0"/>
              <a:t> </a:t>
            </a:r>
            <a:r>
              <a:rPr sz="3850" spc="-95" dirty="0"/>
              <a:t>Member’s</a:t>
            </a:r>
            <a:r>
              <a:rPr sz="3850" spc="-185" dirty="0"/>
              <a:t> </a:t>
            </a:r>
            <a:r>
              <a:rPr sz="3850" spc="-80" dirty="0"/>
              <a:t>Projects</a:t>
            </a:r>
            <a:r>
              <a:rPr lang="en-US" sz="3850" spc="-80" dirty="0"/>
              <a:t> </a:t>
            </a:r>
            <a:r>
              <a:rPr sz="3850" spc="-80" dirty="0"/>
              <a:t>(involved)</a:t>
            </a:r>
            <a:endParaRPr sz="3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0282" y="2299437"/>
            <a:ext cx="3025021" cy="38569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8485" y="2299437"/>
            <a:ext cx="2559918" cy="38569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167" y="1584476"/>
            <a:ext cx="216789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dirty="0">
                <a:latin typeface="Calibri"/>
                <a:cs typeface="Calibri"/>
              </a:rPr>
              <a:t>High Spee</a:t>
            </a:r>
            <a:r>
              <a:rPr sz="2100" b="1" spc="47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Elevator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2721" y="2125510"/>
            <a:ext cx="139446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Calibri"/>
                <a:cs typeface="Calibri"/>
              </a:rPr>
              <a:t>420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m/min</a:t>
            </a:r>
            <a:r>
              <a:rPr sz="1200" b="1" spc="8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(7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m/sec)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35992" y="2125510"/>
            <a:ext cx="139446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Calibri"/>
                <a:cs typeface="Calibri"/>
              </a:rPr>
              <a:t>240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m/min</a:t>
            </a:r>
            <a:r>
              <a:rPr sz="1200" b="1" spc="8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(4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m/sec)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9148" y="6006503"/>
            <a:ext cx="1717039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b="1" dirty="0">
                <a:latin typeface="Calibri"/>
                <a:cs typeface="Calibri"/>
              </a:rPr>
              <a:t>Baiyoke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Sky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Tower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/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Th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3553" y="5949226"/>
            <a:ext cx="4832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ailand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6769" y="5950699"/>
            <a:ext cx="18002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LG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Group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Tower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/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Korea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9998" y="5955302"/>
            <a:ext cx="13620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Calibri"/>
                <a:cs typeface="Calibri"/>
              </a:rPr>
              <a:t>ASEM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Tower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/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Korea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EF2CF4F1-A4E3-4F67-2D86-924B85834289}"/>
              </a:ext>
            </a:extLst>
          </p:cNvPr>
          <p:cNvSpPr txBox="1"/>
          <p:nvPr/>
        </p:nvSpPr>
        <p:spPr>
          <a:xfrm>
            <a:off x="1371697" y="2131518"/>
            <a:ext cx="139446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b="1" dirty="0">
                <a:latin typeface="Calibri"/>
                <a:cs typeface="Calibri"/>
              </a:rPr>
              <a:t>36</a:t>
            </a:r>
            <a:r>
              <a:rPr sz="1200" b="1" dirty="0">
                <a:latin typeface="Calibri"/>
                <a:cs typeface="Calibri"/>
              </a:rPr>
              <a:t>0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m/min</a:t>
            </a:r>
            <a:r>
              <a:rPr sz="1200" b="1" spc="8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</a:t>
            </a:r>
            <a:r>
              <a:rPr lang="en-US" sz="1200" b="1" dirty="0">
                <a:latin typeface="Calibri"/>
                <a:cs typeface="Calibri"/>
              </a:rPr>
              <a:t>6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m/sec)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6" name="그림 15" descr="대도시, 건물, 타워 블록, 수도권이(가) 표시된 사진&#10;&#10;자동 생성된 설명">
            <a:extLst>
              <a:ext uri="{FF2B5EF4-FFF2-40B4-BE49-F238E27FC236}">
                <a16:creationId xmlns:a16="http://schemas.microsoft.com/office/drawing/2014/main" id="{3E99D85E-E531-48B5-B063-5E98F5A15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70" y="2345566"/>
            <a:ext cx="17907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33020" y="6425793"/>
            <a:ext cx="544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INCHEON INTERNATIONAL AIRPORT / KOREA (700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825"/>
            <a:ext cx="1069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2540" y="6406508"/>
            <a:ext cx="615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HDB (HOUSING DEVELOPMENT BOARD) / SINGAPORE HDB 9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LUP, 12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LUP  (3,000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2BBA8D-AA5D-7090-8A45-C0C5EF95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88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825"/>
            <a:ext cx="1069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2540" y="6406508"/>
            <a:ext cx="615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SAMBIL / VENEZUELA  (50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2BBA8D-AA5D-7090-8A45-C0C5EF95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건물, 창문, 문, 예술이(가) 표시된 사진">
            <a:extLst>
              <a:ext uri="{FF2B5EF4-FFF2-40B4-BE49-F238E27FC236}">
                <a16:creationId xmlns:a16="http://schemas.microsoft.com/office/drawing/2014/main" id="{75461907-5D1A-2F23-4E2E-4B119A356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1571625"/>
            <a:ext cx="10693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4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00759"/>
            <a:ext cx="10692130" cy="3535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80" dirty="0"/>
              <a:t> </a:t>
            </a:r>
            <a:r>
              <a:rPr sz="3850" dirty="0"/>
              <a:t>Member’s</a:t>
            </a:r>
            <a:r>
              <a:rPr sz="3850" spc="-150" dirty="0"/>
              <a:t> </a:t>
            </a:r>
            <a:r>
              <a:rPr sz="3850" dirty="0"/>
              <a:t>Projects</a:t>
            </a:r>
            <a:r>
              <a:rPr sz="3850" spc="-150" dirty="0"/>
              <a:t> </a:t>
            </a:r>
            <a:r>
              <a:rPr sz="3850" spc="-10" dirty="0"/>
              <a:t>(Involved)</a:t>
            </a:r>
            <a:endParaRPr sz="38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8A33A-2E80-C090-7553-935CAE52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825"/>
            <a:ext cx="1069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7AC3B-1396-BBE7-A492-FAF52C4F360B}"/>
              </a:ext>
            </a:extLst>
          </p:cNvPr>
          <p:cNvSpPr txBox="1"/>
          <p:nvPr/>
        </p:nvSpPr>
        <p:spPr>
          <a:xfrm>
            <a:off x="2540" y="6406508"/>
            <a:ext cx="615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TAMAN ANGGREK / INDONESIA  (50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42BBA8D-AA5D-7090-8A45-C0C5EF95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106934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건물, 창문, 문, 예술이(가) 표시된 사진">
            <a:extLst>
              <a:ext uri="{FF2B5EF4-FFF2-40B4-BE49-F238E27FC236}">
                <a16:creationId xmlns:a16="http://schemas.microsoft.com/office/drawing/2014/main" id="{75461907-5D1A-2F23-4E2E-4B119A356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1571625"/>
            <a:ext cx="10693400" cy="4648200"/>
          </a:xfrm>
          <a:prstGeom prst="rect">
            <a:avLst/>
          </a:prstGeom>
        </p:spPr>
      </p:pic>
      <p:pic>
        <p:nvPicPr>
          <p:cNvPr id="7" name="그림 6" descr="건물, 야외, 수도권, 타워 블록이(가) 표시된 사진">
            <a:extLst>
              <a:ext uri="{FF2B5EF4-FFF2-40B4-BE49-F238E27FC236}">
                <a16:creationId xmlns:a16="http://schemas.microsoft.com/office/drawing/2014/main" id="{FCD38590-EBC9-40E9-789E-B0BBB139B8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" y="1581837"/>
            <a:ext cx="10693400" cy="462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63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130" cy="60144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8022" y="4463351"/>
            <a:ext cx="4599940" cy="14700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5690"/>
              </a:lnSpc>
              <a:spcBef>
                <a:spcPts val="195"/>
              </a:spcBef>
            </a:pPr>
            <a:r>
              <a:rPr sz="4750" dirty="0"/>
              <a:t>LGS</a:t>
            </a:r>
            <a:r>
              <a:rPr sz="4750" spc="-235" dirty="0"/>
              <a:t> </a:t>
            </a:r>
            <a:r>
              <a:rPr sz="4750" spc="-10" dirty="0"/>
              <a:t>Elevator</a:t>
            </a:r>
            <a:r>
              <a:rPr sz="4750" spc="-190" dirty="0"/>
              <a:t> </a:t>
            </a:r>
            <a:r>
              <a:rPr sz="4750" spc="-10" dirty="0"/>
              <a:t>Korea Signature</a:t>
            </a:r>
            <a:r>
              <a:rPr sz="4750" spc="-204" dirty="0"/>
              <a:t> </a:t>
            </a:r>
            <a:r>
              <a:rPr sz="4750" spc="-10" dirty="0"/>
              <a:t>Projects</a:t>
            </a:r>
            <a:endParaRPr sz="4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16" name="제목 8">
            <a:extLst>
              <a:ext uri="{FF2B5EF4-FFF2-40B4-BE49-F238E27FC236}">
                <a16:creationId xmlns:a16="http://schemas.microsoft.com/office/drawing/2014/main" id="{0A3DC8CF-5EBF-DB90-512F-01035FB5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86" y="809625"/>
            <a:ext cx="10536341" cy="475837"/>
          </a:xfrm>
          <a:solidFill>
            <a:srgbClr val="E01F65"/>
          </a:solidFill>
        </p:spPr>
        <p:txBody>
          <a:bodyPr>
            <a:noAutofit/>
          </a:bodyPr>
          <a:lstStyle/>
          <a:p>
            <a:pPr algn="l"/>
            <a:r>
              <a:rPr lang="en-US" altLang="ko-KR" sz="3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TOKYO TOWN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YARMAG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C053F48-969D-E241-E3CB-F591FEBD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LGS Elevator Signature</a:t>
            </a:r>
            <a:r>
              <a:rPr lang="en-US" altLang="ko-KR" baseline="0" dirty="0"/>
              <a:t> Projects</a:t>
            </a:r>
            <a:endParaRPr lang="ko-KR" alt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07E23F73-A982-A4F3-1534-F417652FBB31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3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SURUGA RESIDENCE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pic>
        <p:nvPicPr>
          <p:cNvPr id="4" name="그림 3" descr="텍스트, 하늘, 타워 블록, 야외이(가) 표시된 사진">
            <a:extLst>
              <a:ext uri="{FF2B5EF4-FFF2-40B4-BE49-F238E27FC236}">
                <a16:creationId xmlns:a16="http://schemas.microsoft.com/office/drawing/2014/main" id="{4EF94882-0C7A-12BE-2702-C6E50F689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2" y="2039850"/>
            <a:ext cx="7946533" cy="3815373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078DB7C9-17C9-1310-3841-39E30B96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0252DA9A-3646-882C-DE40-A80EA9A0DDE4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952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ENGINEERING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pic>
        <p:nvPicPr>
          <p:cNvPr id="4" name="그림 3" descr="텍스트, 하늘, 타워 블록, 야외이(가) 표시된 사진">
            <a:extLst>
              <a:ext uri="{FF2B5EF4-FFF2-40B4-BE49-F238E27FC236}">
                <a16:creationId xmlns:a16="http://schemas.microsoft.com/office/drawing/2014/main" id="{4EF94882-0C7A-12BE-2702-C6E50F689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5373"/>
          </a:xfrm>
          <a:prstGeom prst="rect">
            <a:avLst/>
          </a:prstGeom>
        </p:spPr>
      </p:pic>
      <p:pic>
        <p:nvPicPr>
          <p:cNvPr id="5" name="그림 4" descr="건물, 항공 사진, 도시 디자인, 공중의이(가) 표시된 사진">
            <a:extLst>
              <a:ext uri="{FF2B5EF4-FFF2-40B4-BE49-F238E27FC236}">
                <a16:creationId xmlns:a16="http://schemas.microsoft.com/office/drawing/2014/main" id="{83E87972-41B2-D62A-B3C6-16D7ED584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2" y="2040963"/>
            <a:ext cx="7946533" cy="3815373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4177F03E-C412-235F-23E0-7BD400CB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CEA94E8D-9B24-675F-6C59-93935F00816A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6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MILLENIUM TOWER / MONGOLIA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그림 22" descr="야외, 하늘, 건물, 상업용 건물이(가) 표시된 사진">
            <a:extLst>
              <a:ext uri="{FF2B5EF4-FFF2-40B4-BE49-F238E27FC236}">
                <a16:creationId xmlns:a16="http://schemas.microsoft.com/office/drawing/2014/main" id="{9193AA95-EFCF-FE65-DB51-F11FF92D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2076"/>
            <a:ext cx="7946533" cy="3815373"/>
          </a:xfrm>
          <a:prstGeom prst="rect">
            <a:avLst/>
          </a:prstGeom>
        </p:spPr>
      </p:pic>
      <p:pic>
        <p:nvPicPr>
          <p:cNvPr id="3" name="그림 2" descr="축적 모형, 건물, 도시 디자인, 회로이(가) 표시된 사진&#10;&#10;자동 생성된 설명">
            <a:extLst>
              <a:ext uri="{FF2B5EF4-FFF2-40B4-BE49-F238E27FC236}">
                <a16:creationId xmlns:a16="http://schemas.microsoft.com/office/drawing/2014/main" id="{3470B682-C16E-2DEC-A7FB-1530B8C47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4" y="2040963"/>
            <a:ext cx="7946533" cy="3815373"/>
          </a:xfrm>
          <a:prstGeom prst="rect">
            <a:avLst/>
          </a:prstGeom>
        </p:spPr>
      </p:pic>
      <p:pic>
        <p:nvPicPr>
          <p:cNvPr id="4" name="그림 3" descr="텍스트, 하늘, 타워 블록, 야외이(가) 표시된 사진">
            <a:extLst>
              <a:ext uri="{FF2B5EF4-FFF2-40B4-BE49-F238E27FC236}">
                <a16:creationId xmlns:a16="http://schemas.microsoft.com/office/drawing/2014/main" id="{4EF94882-0C7A-12BE-2702-C6E50F689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5373"/>
          </a:xfrm>
          <a:prstGeom prst="rect">
            <a:avLst/>
          </a:prstGeom>
        </p:spPr>
      </p:pic>
      <p:pic>
        <p:nvPicPr>
          <p:cNvPr id="5" name="그림 4" descr="건물, 항공 사진, 도시 디자인, 공중의이(가) 표시된 사진">
            <a:extLst>
              <a:ext uri="{FF2B5EF4-FFF2-40B4-BE49-F238E27FC236}">
                <a16:creationId xmlns:a16="http://schemas.microsoft.com/office/drawing/2014/main" id="{83E87972-41B2-D62A-B3C6-16D7ED584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2" y="2040963"/>
            <a:ext cx="7946533" cy="3815373"/>
          </a:xfrm>
          <a:prstGeom prst="rect">
            <a:avLst/>
          </a:prstGeom>
        </p:spPr>
      </p:pic>
      <p:pic>
        <p:nvPicPr>
          <p:cNvPr id="6" name="그림 5" descr="야외, 하늘, 건물, 밤이(가) 표시된 사진&#10;&#10;자동 생성된 설명">
            <a:extLst>
              <a:ext uri="{FF2B5EF4-FFF2-40B4-BE49-F238E27FC236}">
                <a16:creationId xmlns:a16="http://schemas.microsoft.com/office/drawing/2014/main" id="{DEBB6AF2-9C4C-4F0D-6899-CE4D037420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1" y="2039850"/>
            <a:ext cx="7946533" cy="3815373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6E38C3CA-6200-7CD8-52A5-20469CBF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84B1A178-3171-9187-5D11-464AE1DB7D5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56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514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ALMATY METRO STATIONS / KAZAKHSTAN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(32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359D33-B610-6C35-CC8F-9E76B241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5" name="제목 8">
            <a:extLst>
              <a:ext uri="{FF2B5EF4-FFF2-40B4-BE49-F238E27FC236}">
                <a16:creationId xmlns:a16="http://schemas.microsoft.com/office/drawing/2014/main" id="{B6F2B4B6-EA48-6AAE-92BD-E89114FBDE76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56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631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KARAGANDA TRAIN STATION / KAZAKHSTAN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F276B87B-38FE-49EE-2718-860E8A16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6" name="제목 8">
            <a:extLst>
              <a:ext uri="{FF2B5EF4-FFF2-40B4-BE49-F238E27FC236}">
                <a16:creationId xmlns:a16="http://schemas.microsoft.com/office/drawing/2014/main" id="{D4A01314-F311-6332-8C41-7F046FC77DCC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40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511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KSA TV TOWER / SAUDI ARABIA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pic>
        <p:nvPicPr>
          <p:cNvPr id="5" name="그림 4" descr="건물, 바닥재, 바닥, 계단이(가) 표시된 사진">
            <a:extLst>
              <a:ext uri="{FF2B5EF4-FFF2-40B4-BE49-F238E27FC236}">
                <a16:creationId xmlns:a16="http://schemas.microsoft.com/office/drawing/2014/main" id="{81C2DABD-AAFF-F42D-56E9-1989E96E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  <a:prstGeom prst="rect">
            <a:avLst/>
          </a:prstGeom>
        </p:spPr>
      </p:pic>
      <p:pic>
        <p:nvPicPr>
          <p:cNvPr id="6" name="그림 5" descr="야외, 건물, 나무, 하늘이(가) 표시된 사진&#10;&#10;자동 생성된 설명">
            <a:extLst>
              <a:ext uri="{FF2B5EF4-FFF2-40B4-BE49-F238E27FC236}">
                <a16:creationId xmlns:a16="http://schemas.microsoft.com/office/drawing/2014/main" id="{425F2DF9-33FA-2DC5-19E9-A4362A5922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6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497DC1AA-D1FA-69BC-93A7-57ADA457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4EE59971-D123-C6FD-6548-DDAAF4639D6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 descr="하늘, 야외, 건물, 나무이(가) 표시된 사진">
            <a:extLst>
              <a:ext uri="{FF2B5EF4-FFF2-40B4-BE49-F238E27FC236}">
                <a16:creationId xmlns:a16="http://schemas.microsoft.com/office/drawing/2014/main" id="{C22D4331-87E4-4497-8A5C-1FF07F4634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4" cy="38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95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5467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ACADEMY OF PULIC ADMINISTRATION / KAZAKHSTAN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4B4C7825-098B-57C2-705D-8AC201FC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D9F31557-F9EC-7843-CCB9-C3EE149DFD6F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11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4631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AIRBELL HELIANTHUS / BANGLADESH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pic>
        <p:nvPicPr>
          <p:cNvPr id="5" name="그림 4" descr="건물, 바닥재, 바닥, 계단이(가) 표시된 사진">
            <a:extLst>
              <a:ext uri="{FF2B5EF4-FFF2-40B4-BE49-F238E27FC236}">
                <a16:creationId xmlns:a16="http://schemas.microsoft.com/office/drawing/2014/main" id="{81C2DABD-AAFF-F42D-56E9-1989E96E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F3092719-3887-1AC4-599C-BCF5E2D6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B59B28A2-C5DC-E645-CBE5-DB1C2C37A61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0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대중 교통, 기차, 차량, 기차역이(가) 표시된 사진&#10;&#10;자동 생성된 설명">
            <a:extLst>
              <a:ext uri="{FF2B5EF4-FFF2-40B4-BE49-F238E27FC236}">
                <a16:creationId xmlns:a16="http://schemas.microsoft.com/office/drawing/2014/main" id="{1511E840-5E14-E438-065F-F1A6894A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076B52-364A-A7E3-4053-A18860F901BC}"/>
              </a:ext>
            </a:extLst>
          </p:cNvPr>
          <p:cNvSpPr txBox="1"/>
          <p:nvPr/>
        </p:nvSpPr>
        <p:spPr>
          <a:xfrm>
            <a:off x="1430242" y="5968282"/>
            <a:ext cx="5119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BEXIMCO PHARMACEUTICALS LTD / BANGLADESH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UNITS)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 descr="야외, 하늘, 구름, 부동산이(가) 표시된 사진">
            <a:extLst>
              <a:ext uri="{FF2B5EF4-FFF2-40B4-BE49-F238E27FC236}">
                <a16:creationId xmlns:a16="http://schemas.microsoft.com/office/drawing/2014/main" id="{DB1A84B2-5E9A-3F88-6C74-2ED390505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4"/>
            <a:ext cx="7946533" cy="3816486"/>
          </a:xfrm>
          <a:prstGeom prst="rect">
            <a:avLst/>
          </a:prstGeom>
        </p:spPr>
      </p:pic>
      <p:pic>
        <p:nvPicPr>
          <p:cNvPr id="4" name="그림 3" descr="야외, 하늘, 구름, 건물이(가) 표시된 사진">
            <a:extLst>
              <a:ext uri="{FF2B5EF4-FFF2-40B4-BE49-F238E27FC236}">
                <a16:creationId xmlns:a16="http://schemas.microsoft.com/office/drawing/2014/main" id="{750ED2BD-81B0-D58C-281E-1C89046D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7"/>
          </a:xfrm>
          <a:prstGeom prst="rect">
            <a:avLst/>
          </a:prstGeom>
        </p:spPr>
      </p:pic>
      <p:pic>
        <p:nvPicPr>
          <p:cNvPr id="5" name="그림 4" descr="건물, 바닥재, 바닥, 계단이(가) 표시된 사진">
            <a:extLst>
              <a:ext uri="{FF2B5EF4-FFF2-40B4-BE49-F238E27FC236}">
                <a16:creationId xmlns:a16="http://schemas.microsoft.com/office/drawing/2014/main" id="{81C2DABD-AAFF-F42D-56E9-1989E96E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3"/>
            <a:ext cx="7946533" cy="3816486"/>
          </a:xfrm>
          <a:prstGeom prst="rect">
            <a:avLst/>
          </a:prstGeom>
        </p:spPr>
      </p:pic>
      <p:pic>
        <p:nvPicPr>
          <p:cNvPr id="6" name="그림 5" descr="야외, 건물, 나무, 하늘이(가) 표시된 사진&#10;&#10;자동 생성된 설명">
            <a:extLst>
              <a:ext uri="{FF2B5EF4-FFF2-40B4-BE49-F238E27FC236}">
                <a16:creationId xmlns:a16="http://schemas.microsoft.com/office/drawing/2014/main" id="{425F2DF9-33FA-2DC5-19E9-A4362A5922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93" y="2040962"/>
            <a:ext cx="7946533" cy="3816486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497DC1AA-D1FA-69BC-93A7-57ADA457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500" b="0" i="0" dirty="0">
                <a:solidFill>
                  <a:schemeClr val="bg1"/>
                </a:solidFill>
                <a:effectLst/>
                <a:latin typeface="Calibri"/>
                <a:ea typeface="+mj-ea"/>
                <a:cs typeface="Calibri"/>
              </a:rPr>
              <a:t>LGS Elevator Signature Projects</a:t>
            </a:r>
            <a:endParaRPr lang="ko-KR" altLang="en-US" dirty="0"/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4EE59971-D123-C6FD-6548-DDAAF4639D62}"/>
              </a:ext>
            </a:extLst>
          </p:cNvPr>
          <p:cNvSpPr txBox="1">
            <a:spLocks/>
          </p:cNvSpPr>
          <p:nvPr/>
        </p:nvSpPr>
        <p:spPr>
          <a:xfrm>
            <a:off x="176686" y="809625"/>
            <a:ext cx="10536341" cy="475837"/>
          </a:xfrm>
          <a:prstGeom prst="rect">
            <a:avLst/>
          </a:prstGeom>
          <a:solidFill>
            <a:srgbClr val="E01F65"/>
          </a:solidFill>
        </p:spPr>
        <p:txBody>
          <a:bodyPr wrap="square" lIns="0" tIns="0" rIns="0" bIns="0">
            <a:noAutofit/>
          </a:bodyPr>
          <a:lstStyle>
            <a:lvl1pPr>
              <a:defRPr sz="3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altLang="ko-KR" sz="38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LGS Elevator Signature Projects</a:t>
            </a:r>
            <a:endParaRPr lang="ko-KR" altLang="en-US" sz="3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451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472" y="1825752"/>
            <a:ext cx="6018275" cy="44805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95" dirty="0"/>
              <a:t> </a:t>
            </a:r>
            <a:r>
              <a:rPr sz="3850" spc="-10" dirty="0"/>
              <a:t>Elevator</a:t>
            </a:r>
            <a:r>
              <a:rPr sz="3850" spc="-155" dirty="0"/>
              <a:t> </a:t>
            </a:r>
            <a:r>
              <a:rPr sz="3850" dirty="0"/>
              <a:t>Signature</a:t>
            </a:r>
            <a:r>
              <a:rPr sz="3850" spc="-155" dirty="0"/>
              <a:t> </a:t>
            </a:r>
            <a:r>
              <a:rPr sz="3850" spc="-10" dirty="0"/>
              <a:t>Projects</a:t>
            </a:r>
            <a:endParaRPr sz="3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248" y="1760220"/>
            <a:ext cx="5710427" cy="44973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/>
              <a:t>LGS</a:t>
            </a:r>
            <a:r>
              <a:rPr sz="3850" spc="-195" dirty="0"/>
              <a:t> </a:t>
            </a:r>
            <a:r>
              <a:rPr sz="3850" spc="-10" dirty="0"/>
              <a:t>Elevator</a:t>
            </a:r>
            <a:r>
              <a:rPr sz="3850" spc="-155" dirty="0"/>
              <a:t> </a:t>
            </a:r>
            <a:r>
              <a:rPr sz="3850" dirty="0"/>
              <a:t>Signature</a:t>
            </a:r>
            <a:r>
              <a:rPr sz="3850" spc="-155" dirty="0"/>
              <a:t> </a:t>
            </a:r>
            <a:r>
              <a:rPr sz="3850" spc="-10" dirty="0"/>
              <a:t>Projects</a:t>
            </a:r>
            <a:endParaRPr sz="38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A854-7772-0696-92FE-ED934A9D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37EEF7F-41BC-D36E-BBDB-3AF335D429BD}"/>
              </a:ext>
            </a:extLst>
          </p:cNvPr>
          <p:cNvSpPr txBox="1"/>
          <p:nvPr/>
        </p:nvSpPr>
        <p:spPr>
          <a:xfrm>
            <a:off x="1023588" y="1644467"/>
            <a:ext cx="3886200" cy="483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 algn="ctr">
              <a:lnSpc>
                <a:spcPct val="102000"/>
              </a:lnSpc>
              <a:spcBef>
                <a:spcPts val="95"/>
              </a:spcBef>
              <a:buFont typeface="Wingdings"/>
              <a:buChar char=""/>
              <a:tabLst>
                <a:tab pos="489584" algn="l"/>
              </a:tabLst>
            </a:pPr>
            <a:r>
              <a:rPr sz="1550" b="1" dirty="0">
                <a:latin typeface="Arial"/>
                <a:cs typeface="Arial"/>
              </a:rPr>
              <a:t>Elevator</a:t>
            </a:r>
            <a:r>
              <a:rPr sz="1550" b="1" spc="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system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CE</a:t>
            </a:r>
            <a:r>
              <a:rPr sz="1550" b="1" spc="-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Certificate 	</a:t>
            </a:r>
            <a:r>
              <a:rPr sz="1550" b="1" dirty="0">
                <a:latin typeface="Arial"/>
                <a:cs typeface="Arial"/>
              </a:rPr>
              <a:t>(</a:t>
            </a:r>
            <a:r>
              <a:rPr lang="en-US" sz="1550" b="1" dirty="0">
                <a:latin typeface="Arial"/>
                <a:cs typeface="Arial"/>
              </a:rPr>
              <a:t>European</a:t>
            </a:r>
            <a:r>
              <a:rPr lang="ko-KR" altLang="en-US" sz="1550" b="1" spc="10" dirty="0">
                <a:latin typeface="Arial"/>
                <a:cs typeface="Arial"/>
              </a:rPr>
              <a:t> </a:t>
            </a:r>
            <a:r>
              <a:rPr lang="en-US" sz="1550" b="1" spc="-10" dirty="0">
                <a:latin typeface="Arial"/>
                <a:cs typeface="Arial"/>
              </a:rPr>
              <a:t>Certification MMR_LGK</a:t>
            </a:r>
            <a:r>
              <a:rPr sz="1550" b="1" spc="-10" dirty="0">
                <a:latin typeface="Arial"/>
                <a:cs typeface="Arial"/>
              </a:rPr>
              <a:t>)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9E59741-A256-B603-E0EB-949AD48B7FAA}"/>
              </a:ext>
            </a:extLst>
          </p:cNvPr>
          <p:cNvSpPr/>
          <p:nvPr/>
        </p:nvSpPr>
        <p:spPr>
          <a:xfrm>
            <a:off x="1872995" y="2284476"/>
            <a:ext cx="2646045" cy="3987165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41599E0-4183-4E69-6C39-C95B82F10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  <p:pic>
        <p:nvPicPr>
          <p:cNvPr id="7" name="그림 6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CD7CE76F-C6B8-56F0-BCCA-8DBE13F992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1" y="2309242"/>
            <a:ext cx="2514600" cy="3910584"/>
          </a:xfrm>
          <a:prstGeom prst="rect">
            <a:avLst/>
          </a:prstGeom>
        </p:spPr>
      </p:pic>
      <p:sp>
        <p:nvSpPr>
          <p:cNvPr id="11" name="object 5">
            <a:extLst>
              <a:ext uri="{FF2B5EF4-FFF2-40B4-BE49-F238E27FC236}">
                <a16:creationId xmlns:a16="http://schemas.microsoft.com/office/drawing/2014/main" id="{6BB17BB5-3041-FD1B-0B40-5D9FABC7ADF4}"/>
              </a:ext>
            </a:extLst>
          </p:cNvPr>
          <p:cNvSpPr txBox="1"/>
          <p:nvPr/>
        </p:nvSpPr>
        <p:spPr>
          <a:xfrm>
            <a:off x="5575300" y="1644467"/>
            <a:ext cx="3982083" cy="483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 algn="ctr">
              <a:lnSpc>
                <a:spcPct val="102000"/>
              </a:lnSpc>
              <a:spcBef>
                <a:spcPts val="95"/>
              </a:spcBef>
              <a:buFont typeface="Wingdings"/>
              <a:buChar char=""/>
              <a:tabLst>
                <a:tab pos="489584" algn="l"/>
              </a:tabLst>
            </a:pPr>
            <a:r>
              <a:rPr sz="1550" b="1" dirty="0">
                <a:latin typeface="Arial"/>
                <a:cs typeface="Arial"/>
              </a:rPr>
              <a:t>Elevator</a:t>
            </a:r>
            <a:r>
              <a:rPr sz="1550" b="1" spc="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system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CE</a:t>
            </a:r>
            <a:r>
              <a:rPr sz="1550" b="1" spc="-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Certificate 	</a:t>
            </a:r>
            <a:r>
              <a:rPr sz="1550" b="1" dirty="0">
                <a:latin typeface="Arial"/>
                <a:cs typeface="Arial"/>
              </a:rPr>
              <a:t>(</a:t>
            </a:r>
            <a:r>
              <a:rPr lang="en-US" sz="1550" b="1" dirty="0">
                <a:latin typeface="Arial"/>
                <a:cs typeface="Arial"/>
              </a:rPr>
              <a:t>European</a:t>
            </a:r>
            <a:r>
              <a:rPr lang="ko-KR" altLang="en-US" sz="1550" b="1" spc="10" dirty="0">
                <a:latin typeface="Arial"/>
                <a:cs typeface="Arial"/>
              </a:rPr>
              <a:t> </a:t>
            </a:r>
            <a:r>
              <a:rPr lang="en-US" sz="1550" b="1" spc="-10" dirty="0">
                <a:latin typeface="Arial"/>
                <a:cs typeface="Arial"/>
              </a:rPr>
              <a:t>Certification MRL_LGL</a:t>
            </a:r>
            <a:r>
              <a:rPr sz="1550" b="1" spc="-10" dirty="0">
                <a:latin typeface="Arial"/>
                <a:cs typeface="Arial"/>
              </a:rPr>
              <a:t>)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E157136-178D-EF0F-CCE5-9C0668B3B30D}"/>
              </a:ext>
            </a:extLst>
          </p:cNvPr>
          <p:cNvSpPr/>
          <p:nvPr/>
        </p:nvSpPr>
        <p:spPr>
          <a:xfrm>
            <a:off x="6451633" y="2348398"/>
            <a:ext cx="2646045" cy="3987165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그림 21" descr="텍스트, 스크린샷, 원, 폰트이(가) 표시된 사진&#10;&#10;자동 생성된 설명">
            <a:extLst>
              <a:ext uri="{FF2B5EF4-FFF2-40B4-BE49-F238E27FC236}">
                <a16:creationId xmlns:a16="http://schemas.microsoft.com/office/drawing/2014/main" id="{FC6CC097-9734-C97B-0312-53AFC1F957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571" y="2361582"/>
            <a:ext cx="2544167" cy="39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76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83" y="1674901"/>
            <a:ext cx="3453382" cy="47130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8884" y="1768616"/>
            <a:ext cx="3445487" cy="4619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92566" y="1418361"/>
            <a:ext cx="13277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sz="1750" b="1" spc="-10" dirty="0">
                <a:latin typeface="Arial"/>
                <a:cs typeface="Arial"/>
              </a:rPr>
              <a:t>ISO14001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556" y="1418361"/>
            <a:ext cx="120332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sz="1750" b="1" spc="-10" dirty="0">
                <a:latin typeface="Arial"/>
                <a:cs typeface="Arial"/>
              </a:rPr>
              <a:t>ISO9001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3F0DDB60-B43F-8682-E2B4-360FF16AAB6A}"/>
              </a:ext>
            </a:extLst>
          </p:cNvPr>
          <p:cNvSpPr/>
          <p:nvPr/>
        </p:nvSpPr>
        <p:spPr>
          <a:xfrm>
            <a:off x="774701" y="1711096"/>
            <a:ext cx="3581399" cy="4676819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EEA955C-E784-E600-3675-C4CA544695F9}"/>
              </a:ext>
            </a:extLst>
          </p:cNvPr>
          <p:cNvSpPr/>
          <p:nvPr/>
        </p:nvSpPr>
        <p:spPr>
          <a:xfrm>
            <a:off x="5480928" y="1711095"/>
            <a:ext cx="3513444" cy="4676820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1838" y="1694205"/>
            <a:ext cx="3910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sz="1750" b="1" spc="-10" dirty="0">
                <a:latin typeface="Arial"/>
                <a:cs typeface="Arial"/>
              </a:rPr>
              <a:t>Certification</a:t>
            </a:r>
            <a:r>
              <a:rPr sz="1750" b="1" spc="-75" dirty="0">
                <a:latin typeface="Arial"/>
                <a:cs typeface="Arial"/>
              </a:rPr>
              <a:t> </a:t>
            </a:r>
            <a:r>
              <a:rPr sz="1750" b="1" dirty="0">
                <a:latin typeface="Arial"/>
                <a:cs typeface="Arial"/>
              </a:rPr>
              <a:t>of</a:t>
            </a:r>
            <a:r>
              <a:rPr sz="1750" b="1" spc="-45" dirty="0">
                <a:latin typeface="Arial"/>
                <a:cs typeface="Arial"/>
              </a:rPr>
              <a:t> </a:t>
            </a:r>
            <a:r>
              <a:rPr sz="1750" b="1" spc="-30" dirty="0">
                <a:latin typeface="Arial"/>
                <a:cs typeface="Arial"/>
              </a:rPr>
              <a:t>Venture</a:t>
            </a:r>
            <a:r>
              <a:rPr sz="1750" b="1" spc="-50" dirty="0">
                <a:latin typeface="Arial"/>
                <a:cs typeface="Arial"/>
              </a:rPr>
              <a:t> </a:t>
            </a:r>
            <a:r>
              <a:rPr sz="1750" b="1" spc="-10" dirty="0">
                <a:latin typeface="Arial"/>
                <a:cs typeface="Arial"/>
              </a:rPr>
              <a:t>Enterprise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1218" y="1729189"/>
            <a:ext cx="31616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3690" algn="l"/>
              </a:tabLst>
            </a:pPr>
            <a:r>
              <a:rPr lang="en-US" altLang="ko-KR" sz="1750" b="1" spc="-10" dirty="0">
                <a:latin typeface="Arial"/>
                <a:cs typeface="Arial"/>
              </a:rPr>
              <a:t>Certificate</a:t>
            </a:r>
            <a:r>
              <a:rPr lang="en-US" altLang="ko-KR" sz="1750" b="1" spc="-75" dirty="0">
                <a:latin typeface="Arial"/>
                <a:cs typeface="Arial"/>
              </a:rPr>
              <a:t> </a:t>
            </a:r>
            <a:r>
              <a:rPr lang="en-US" altLang="ko-KR" sz="1750" b="1" dirty="0">
                <a:latin typeface="Arial"/>
                <a:cs typeface="Arial"/>
              </a:rPr>
              <a:t>of</a:t>
            </a:r>
            <a:r>
              <a:rPr lang="en-US" altLang="ko-KR" sz="1750" b="1" spc="-45" dirty="0">
                <a:latin typeface="Arial"/>
                <a:cs typeface="Arial"/>
              </a:rPr>
              <a:t> </a:t>
            </a:r>
            <a:r>
              <a:rPr lang="en-US" altLang="ko-KR" sz="1750" b="1" spc="-30" dirty="0">
                <a:latin typeface="Arial"/>
                <a:cs typeface="Arial"/>
              </a:rPr>
              <a:t>Conformity</a:t>
            </a:r>
            <a:endParaRPr lang="en-US" altLang="ko-KR" sz="175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943" y="2045208"/>
            <a:ext cx="3326157" cy="42100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  <p:pic>
        <p:nvPicPr>
          <p:cNvPr id="6" name="그림 5" descr="텍스트, 스크린샷, 폰트이(가) 표시된 사진">
            <a:extLst>
              <a:ext uri="{FF2B5EF4-FFF2-40B4-BE49-F238E27FC236}">
                <a16:creationId xmlns:a16="http://schemas.microsoft.com/office/drawing/2014/main" id="{25D34EA4-8F00-1667-45BD-B443A932E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135" y="2250615"/>
            <a:ext cx="3173757" cy="4004641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0D4544E1-CBCA-3997-C0A9-6A9E19CAB6E3}"/>
              </a:ext>
            </a:extLst>
          </p:cNvPr>
          <p:cNvSpPr/>
          <p:nvPr/>
        </p:nvSpPr>
        <p:spPr>
          <a:xfrm>
            <a:off x="1460501" y="2021924"/>
            <a:ext cx="3173758" cy="4274101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79B7FFA-E2EC-DF1C-2DFC-EA60D252BD4A}"/>
              </a:ext>
            </a:extLst>
          </p:cNvPr>
          <p:cNvSpPr/>
          <p:nvPr/>
        </p:nvSpPr>
        <p:spPr>
          <a:xfrm>
            <a:off x="5779294" y="2045208"/>
            <a:ext cx="3326156" cy="4250817"/>
          </a:xfrm>
          <a:custGeom>
            <a:avLst/>
            <a:gdLst/>
            <a:ahLst/>
            <a:cxnLst/>
            <a:rect l="l" t="t" r="r" b="b"/>
            <a:pathLst>
              <a:path w="2646045" h="3987165">
                <a:moveTo>
                  <a:pt x="0" y="3986784"/>
                </a:moveTo>
                <a:lnTo>
                  <a:pt x="2645664" y="3986784"/>
                </a:lnTo>
                <a:lnTo>
                  <a:pt x="2645664" y="0"/>
                </a:lnTo>
                <a:lnTo>
                  <a:pt x="0" y="0"/>
                </a:lnTo>
                <a:lnTo>
                  <a:pt x="0" y="3986784"/>
                </a:lnTo>
                <a:close/>
              </a:path>
            </a:pathLst>
          </a:custGeom>
          <a:ln w="1066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06-DF96-A2AD-97A1-51C1AEF9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A3FEBC-FD3F-66C8-6F31-82023898DE68}"/>
              </a:ext>
            </a:extLst>
          </p:cNvPr>
          <p:cNvGrpSpPr/>
          <p:nvPr/>
        </p:nvGrpSpPr>
        <p:grpSpPr>
          <a:xfrm>
            <a:off x="1003300" y="2369821"/>
            <a:ext cx="2810510" cy="4002404"/>
            <a:chOff x="6131052" y="2287523"/>
            <a:chExt cx="2810510" cy="4002404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08747E5-5DDD-25E6-C5F0-275A59EAD1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100" y="2290572"/>
              <a:ext cx="2804159" cy="3995927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C60F01-0054-2F42-F0BE-8A4B2DAC5AAA}"/>
                </a:ext>
              </a:extLst>
            </p:cNvPr>
            <p:cNvSpPr/>
            <p:nvPr/>
          </p:nvSpPr>
          <p:spPr>
            <a:xfrm>
              <a:off x="6132576" y="2289047"/>
              <a:ext cx="2807335" cy="3999229"/>
            </a:xfrm>
            <a:custGeom>
              <a:avLst/>
              <a:gdLst/>
              <a:ahLst/>
              <a:cxnLst/>
              <a:rect l="l" t="t" r="r" b="b"/>
              <a:pathLst>
                <a:path w="2807334" h="3999229">
                  <a:moveTo>
                    <a:pt x="0" y="3998976"/>
                  </a:moveTo>
                  <a:lnTo>
                    <a:pt x="2807208" y="3998976"/>
                  </a:lnTo>
                  <a:lnTo>
                    <a:pt x="2807208" y="0"/>
                  </a:lnTo>
                  <a:lnTo>
                    <a:pt x="0" y="0"/>
                  </a:lnTo>
                  <a:lnTo>
                    <a:pt x="0" y="3998976"/>
                  </a:lnTo>
                  <a:close/>
                </a:path>
              </a:pathLst>
            </a:custGeom>
            <a:ln w="31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8E1CBFD0-2E65-202B-03F1-6B636F82B6E0}"/>
              </a:ext>
            </a:extLst>
          </p:cNvPr>
          <p:cNvSpPr txBox="1"/>
          <p:nvPr/>
        </p:nvSpPr>
        <p:spPr>
          <a:xfrm>
            <a:off x="690117" y="1800225"/>
            <a:ext cx="323342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5080" indent="-302260">
              <a:lnSpc>
                <a:spcPct val="102000"/>
              </a:lnSpc>
              <a:spcBef>
                <a:spcPts val="95"/>
              </a:spcBef>
              <a:buFont typeface="Wingdings"/>
              <a:buChar char=""/>
              <a:tabLst>
                <a:tab pos="692150" algn="l"/>
              </a:tabLst>
            </a:pPr>
            <a:r>
              <a:rPr sz="1550" b="1" dirty="0">
                <a:latin typeface="Arial"/>
                <a:cs typeface="Arial"/>
              </a:rPr>
              <a:t>Elevator</a:t>
            </a:r>
            <a:r>
              <a:rPr sz="1550" b="1" spc="4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system</a:t>
            </a:r>
            <a:r>
              <a:rPr sz="1550" b="1" spc="4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CU</a:t>
            </a:r>
            <a:r>
              <a:rPr sz="1550" b="1" spc="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Certificate 	</a:t>
            </a:r>
            <a:r>
              <a:rPr sz="1550" b="1" dirty="0">
                <a:latin typeface="Arial"/>
                <a:cs typeface="Arial"/>
              </a:rPr>
              <a:t>(Russian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Certification)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319A33-8F7F-3138-8F72-5B686687D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LGS</a:t>
            </a:r>
            <a:r>
              <a:rPr spc="-195" dirty="0"/>
              <a:t> </a:t>
            </a:r>
            <a:r>
              <a:rPr spc="-110" dirty="0"/>
              <a:t>Elevators’</a:t>
            </a:r>
            <a:r>
              <a:rPr spc="-190" dirty="0"/>
              <a:t> </a:t>
            </a:r>
            <a:r>
              <a:rPr spc="-70" dirty="0"/>
              <a:t>Certificates</a:t>
            </a:r>
          </a:p>
        </p:txBody>
      </p:sp>
    </p:spTree>
    <p:extLst>
      <p:ext uri="{BB962C8B-B14F-4D97-AF65-F5344CB8AC3E}">
        <p14:creationId xmlns:p14="http://schemas.microsoft.com/office/powerpoint/2010/main" val="235565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5830</TotalTime>
  <Words>357</Words>
  <Application>Microsoft Office PowerPoint</Application>
  <PresentationFormat>사용자 지정</PresentationFormat>
  <Paragraphs>77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Calibri</vt:lpstr>
      <vt:lpstr>Times New Roman</vt:lpstr>
      <vt:lpstr>Wingdings</vt:lpstr>
      <vt:lpstr>Office Theme</vt:lpstr>
      <vt:lpstr>Global LGS Member’s Projects (involved)</vt:lpstr>
      <vt:lpstr>LGS Member’s Projects (Involved)</vt:lpstr>
      <vt:lpstr>LGS Member’s Projects (Involved)</vt:lpstr>
      <vt:lpstr>LGS Member’s Projects (Involved)</vt:lpstr>
      <vt:lpstr>LGS Member’s Projects (Involved)</vt:lpstr>
      <vt:lpstr>LGS Member’s Projects (Involved)</vt:lpstr>
      <vt:lpstr>LGS Elevator Korea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 Signature Projects</vt:lpstr>
      <vt:lpstr>LGS Elevators’ Certificates</vt:lpstr>
      <vt:lpstr>LGS Elevators’ Certificates</vt:lpstr>
      <vt:lpstr>LGS Elevators’ Certificates</vt:lpstr>
      <vt:lpstr>LGS Elevators’ Certificates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- 00_LGS Elevator Korea Introduction_20240628.pptx</dc:title>
  <dc:creator>USER</dc:creator>
  <cp:lastModifiedBy>Asus</cp:lastModifiedBy>
  <cp:revision>15</cp:revision>
  <dcterms:created xsi:type="dcterms:W3CDTF">2024-10-10T05:25:59Z</dcterms:created>
  <dcterms:modified xsi:type="dcterms:W3CDTF">2024-12-25T01:51:14Z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2024-10-10T00:00:00Z</vt:filetime>
  </property>
  <property fmtid="{D5CDD505-2E9C-101B-9397-08002B2CF9AE}" pid="3" name="LastSaved">
    <vt:filetime>2024-10-10T00:00:00Z</vt:filetime>
  </property>
  <property fmtid="{D5CDD505-2E9C-101B-9397-08002B2CF9AE}" pid="4" name="Producer">
    <vt:lpwstr>GPL Ghostscript 9.20</vt:lpwstr>
  </property>
</Properties>
</file>