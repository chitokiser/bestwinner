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media/image6.jpg" ContentType="image/jpeg"/>
  <Override PartName="/ppt/notesSlides/notesSlide1.xml" ContentType="application/vnd.openxmlformats-officedocument.presentationml.notesSlide+xml"/>
  <Override PartName="/ppt/media/image13.jpg" ContentType="image/jpeg"/>
  <Override PartName="/ppt/media/image14.jpg" ContentType="image/jpeg"/>
  <Override PartName="/ppt/media/image15.jpg" ContentType="image/jpeg"/>
  <Override PartName="/ppt/media/image16.jpg" ContentType="image/jpeg"/>
  <Override PartName="/ppt/media/image17.jpg" ContentType="image/jpeg"/>
  <Override PartName="/ppt/media/image20.jpg" ContentType="image/jpeg"/>
  <Override PartName="/ppt/media/image31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6"/>
  </p:notesMasterIdLst>
  <p:sldIdLst>
    <p:sldId id="264" r:id="rId2"/>
    <p:sldId id="265" r:id="rId3"/>
    <p:sldId id="266" r:id="rId4"/>
    <p:sldId id="315" r:id="rId5"/>
    <p:sldId id="316" r:id="rId6"/>
    <p:sldId id="317" r:id="rId7"/>
    <p:sldId id="270" r:id="rId8"/>
    <p:sldId id="299" r:id="rId9"/>
    <p:sldId id="300" r:id="rId10"/>
    <p:sldId id="262" r:id="rId11"/>
    <p:sldId id="303" r:id="rId12"/>
    <p:sldId id="302" r:id="rId13"/>
    <p:sldId id="304" r:id="rId14"/>
    <p:sldId id="305" r:id="rId15"/>
    <p:sldId id="313" r:id="rId16"/>
    <p:sldId id="306" r:id="rId17"/>
    <p:sldId id="307" r:id="rId18"/>
    <p:sldId id="308" r:id="rId19"/>
    <p:sldId id="281" r:id="rId20"/>
    <p:sldId id="282" r:id="rId21"/>
    <p:sldId id="319" r:id="rId22"/>
    <p:sldId id="295" r:id="rId23"/>
    <p:sldId id="296" r:id="rId24"/>
    <p:sldId id="320" r:id="rId25"/>
  </p:sldIdLst>
  <p:sldSz cx="10693400" cy="7562850"/>
  <p:notesSz cx="10693400" cy="7562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46168"/>
    <a:srgbClr val="E01F6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73" autoAdjust="0"/>
    <p:restoredTop sz="86414" autoAdjust="0"/>
  </p:normalViewPr>
  <p:slideViewPr>
    <p:cSldViewPr>
      <p:cViewPr varScale="1">
        <p:scale>
          <a:sx n="90" d="100"/>
          <a:sy n="90" d="100"/>
        </p:scale>
        <p:origin x="1218" y="78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633913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6057900" y="0"/>
            <a:ext cx="4632325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CFF20E-2BBF-41C6-A316-4515F4BA12C4}" type="datetimeFigureOut">
              <a:rPr lang="ko-KR" altLang="en-US" smtClean="0"/>
              <a:t>2024-12-25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543300" y="946150"/>
            <a:ext cx="3606800" cy="25511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1069975" y="3640138"/>
            <a:ext cx="8553450" cy="29781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7183438"/>
            <a:ext cx="4633913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6057900" y="7183438"/>
            <a:ext cx="4632325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D24430-5B08-47B9-9392-2B3FEE0191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80788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D24430-5B08-47B9-9392-2B3FEE0191C4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66048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09901" y="746161"/>
            <a:ext cx="7010400" cy="614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5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5196"/>
            <a:ext cx="7485380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5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12/25/2024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5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75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12/25/2024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5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12/25/2024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5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12/25/2024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12/25/2024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686800" y="6405372"/>
            <a:ext cx="1908047" cy="324611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772668"/>
            <a:ext cx="10692765" cy="601980"/>
          </a:xfrm>
          <a:custGeom>
            <a:avLst/>
            <a:gdLst/>
            <a:ahLst/>
            <a:cxnLst/>
            <a:rect l="l" t="t" r="r" b="b"/>
            <a:pathLst>
              <a:path w="10692765" h="601980">
                <a:moveTo>
                  <a:pt x="10692384" y="0"/>
                </a:moveTo>
                <a:lnTo>
                  <a:pt x="0" y="0"/>
                </a:lnTo>
                <a:lnTo>
                  <a:pt x="0" y="601980"/>
                </a:lnTo>
                <a:lnTo>
                  <a:pt x="10692384" y="601980"/>
                </a:lnTo>
                <a:lnTo>
                  <a:pt x="10692384" y="0"/>
                </a:lnTo>
                <a:close/>
              </a:path>
            </a:pathLst>
          </a:custGeom>
          <a:solidFill>
            <a:srgbClr val="E01F6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09901" y="746161"/>
            <a:ext cx="7564755" cy="614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5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826767" y="1645400"/>
            <a:ext cx="6008370" cy="17633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5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56" y="7033450"/>
            <a:ext cx="3421888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12/25/2024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0.png"/><Relationship Id="rId4" Type="http://schemas.openxmlformats.org/officeDocument/2006/relationships/image" Target="../media/image9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png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jpg"/><Relationship Id="rId4" Type="http://schemas.openxmlformats.org/officeDocument/2006/relationships/image" Target="../media/image15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jpg"/><Relationship Id="rId5" Type="http://schemas.openxmlformats.org/officeDocument/2006/relationships/image" Target="../media/image16.jpg"/><Relationship Id="rId4" Type="http://schemas.openxmlformats.org/officeDocument/2006/relationships/image" Target="../media/image15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7" Type="http://schemas.openxmlformats.org/officeDocument/2006/relationships/image" Target="../media/image18.jpe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jpg"/><Relationship Id="rId5" Type="http://schemas.openxmlformats.org/officeDocument/2006/relationships/image" Target="../media/image16.jpg"/><Relationship Id="rId4" Type="http://schemas.openxmlformats.org/officeDocument/2006/relationships/image" Target="../media/image15.jp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jpe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jp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360932"/>
            <a:ext cx="10692130" cy="494538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67134" y="6266180"/>
            <a:ext cx="4057650" cy="2946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750" b="1" dirty="0">
                <a:latin typeface="Calibri"/>
                <a:cs typeface="Calibri"/>
              </a:rPr>
              <a:t>LGIS</a:t>
            </a:r>
            <a:r>
              <a:rPr sz="1750" b="1" spc="-20" dirty="0">
                <a:latin typeface="Calibri"/>
                <a:cs typeface="Calibri"/>
              </a:rPr>
              <a:t> </a:t>
            </a:r>
            <a:r>
              <a:rPr sz="1750" b="1" dirty="0">
                <a:latin typeface="Calibri"/>
                <a:cs typeface="Calibri"/>
              </a:rPr>
              <a:t>Elevator</a:t>
            </a:r>
            <a:r>
              <a:rPr sz="1750" b="1" spc="-10" dirty="0">
                <a:latin typeface="Calibri"/>
                <a:cs typeface="Calibri"/>
              </a:rPr>
              <a:t> </a:t>
            </a:r>
            <a:r>
              <a:rPr sz="1750" b="1" dirty="0">
                <a:latin typeface="Calibri"/>
                <a:cs typeface="Calibri"/>
              </a:rPr>
              <a:t>Factory</a:t>
            </a:r>
            <a:r>
              <a:rPr sz="1750" b="1" spc="-10" dirty="0">
                <a:latin typeface="Calibri"/>
                <a:cs typeface="Calibri"/>
              </a:rPr>
              <a:t> </a:t>
            </a:r>
            <a:r>
              <a:rPr sz="1750" b="1" dirty="0">
                <a:latin typeface="Calibri"/>
                <a:cs typeface="Calibri"/>
              </a:rPr>
              <a:t>year</a:t>
            </a:r>
            <a:r>
              <a:rPr sz="1750" b="1" spc="-35" dirty="0">
                <a:latin typeface="Calibri"/>
                <a:cs typeface="Calibri"/>
              </a:rPr>
              <a:t> </a:t>
            </a:r>
            <a:r>
              <a:rPr sz="1750" b="1" dirty="0">
                <a:latin typeface="Calibri"/>
                <a:cs typeface="Calibri"/>
              </a:rPr>
              <a:t>of</a:t>
            </a:r>
            <a:r>
              <a:rPr sz="1750" b="1" spc="-15" dirty="0">
                <a:latin typeface="Calibri"/>
                <a:cs typeface="Calibri"/>
              </a:rPr>
              <a:t> </a:t>
            </a:r>
            <a:r>
              <a:rPr sz="1750" b="1" dirty="0">
                <a:latin typeface="Calibri"/>
                <a:cs typeface="Calibri"/>
              </a:rPr>
              <a:t>1998</a:t>
            </a:r>
            <a:r>
              <a:rPr sz="1750" b="1" spc="5" dirty="0">
                <a:latin typeface="Calibri"/>
                <a:cs typeface="Calibri"/>
              </a:rPr>
              <a:t> </a:t>
            </a:r>
            <a:r>
              <a:rPr sz="1750" b="1" dirty="0">
                <a:latin typeface="Calibri"/>
                <a:cs typeface="Calibri"/>
              </a:rPr>
              <a:t>in</a:t>
            </a:r>
            <a:r>
              <a:rPr sz="1750" b="1" spc="5" dirty="0">
                <a:latin typeface="Calibri"/>
                <a:cs typeface="Calibri"/>
              </a:rPr>
              <a:t> </a:t>
            </a:r>
            <a:r>
              <a:rPr sz="1750" b="1" spc="-10" dirty="0">
                <a:latin typeface="Calibri"/>
                <a:cs typeface="Calibri"/>
              </a:rPr>
              <a:t>Korea.</a:t>
            </a:r>
            <a:endParaRPr sz="175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26158" y="3132582"/>
            <a:ext cx="6644640" cy="437388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09901" y="746161"/>
            <a:ext cx="7727599" cy="607218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3850" spc="-80" dirty="0"/>
              <a:t>Global</a:t>
            </a:r>
            <a:r>
              <a:rPr sz="3850" spc="-140" dirty="0"/>
              <a:t> </a:t>
            </a:r>
            <a:r>
              <a:rPr sz="3850" spc="-100" dirty="0"/>
              <a:t>LGS</a:t>
            </a:r>
            <a:r>
              <a:rPr sz="3850" spc="-140" dirty="0"/>
              <a:t> </a:t>
            </a:r>
            <a:r>
              <a:rPr sz="3850" spc="-95" dirty="0"/>
              <a:t>Member’s</a:t>
            </a:r>
            <a:r>
              <a:rPr sz="3850" spc="-185" dirty="0"/>
              <a:t> </a:t>
            </a:r>
            <a:r>
              <a:rPr sz="3850" spc="-80" dirty="0"/>
              <a:t>Projects</a:t>
            </a:r>
            <a:r>
              <a:rPr lang="en-US" sz="3850" spc="-80" dirty="0"/>
              <a:t> </a:t>
            </a:r>
            <a:r>
              <a:rPr sz="3850" spc="-80" dirty="0"/>
              <a:t>(involved)</a:t>
            </a:r>
            <a:endParaRPr sz="3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30282" y="2299437"/>
            <a:ext cx="3025021" cy="385697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58485" y="2299437"/>
            <a:ext cx="2559918" cy="385697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23167" y="1584476"/>
            <a:ext cx="2167890" cy="3473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100" b="1" dirty="0">
                <a:latin typeface="Calibri"/>
                <a:cs typeface="Calibri"/>
              </a:rPr>
              <a:t>High Spee</a:t>
            </a:r>
            <a:r>
              <a:rPr sz="2100" b="1" spc="475" dirty="0">
                <a:latin typeface="Calibri"/>
                <a:cs typeface="Calibri"/>
              </a:rPr>
              <a:t> </a:t>
            </a:r>
            <a:r>
              <a:rPr sz="2100" b="1" spc="-10" dirty="0">
                <a:latin typeface="Calibri"/>
                <a:cs typeface="Calibri"/>
              </a:rPr>
              <a:t>Elevator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142721" y="2125510"/>
            <a:ext cx="1394460" cy="2139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200" b="1" dirty="0">
                <a:latin typeface="Calibri"/>
                <a:cs typeface="Calibri"/>
              </a:rPr>
              <a:t>420</a:t>
            </a:r>
            <a:r>
              <a:rPr sz="1200" b="1" spc="5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m/min</a:t>
            </a:r>
            <a:r>
              <a:rPr sz="1200" b="1" spc="8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(7</a:t>
            </a:r>
            <a:r>
              <a:rPr sz="1200" b="1" spc="35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m/sec)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435992" y="2125510"/>
            <a:ext cx="1394460" cy="2139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200" b="1" dirty="0">
                <a:latin typeface="Calibri"/>
                <a:cs typeface="Calibri"/>
              </a:rPr>
              <a:t>240</a:t>
            </a:r>
            <a:r>
              <a:rPr sz="1200" b="1" spc="5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m/min</a:t>
            </a:r>
            <a:r>
              <a:rPr sz="1200" b="1" spc="8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(4</a:t>
            </a:r>
            <a:r>
              <a:rPr sz="1200" b="1" spc="35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m/sec)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59148" y="6006503"/>
            <a:ext cx="1717039" cy="178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35"/>
              </a:lnSpc>
            </a:pPr>
            <a:r>
              <a:rPr sz="1400" b="1" dirty="0">
                <a:latin typeface="Calibri"/>
                <a:cs typeface="Calibri"/>
              </a:rPr>
              <a:t>Baiyoke</a:t>
            </a:r>
            <a:r>
              <a:rPr sz="1400" b="1" spc="-2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Sky</a:t>
            </a:r>
            <a:r>
              <a:rPr sz="1400" b="1" spc="-10" dirty="0">
                <a:latin typeface="Calibri"/>
                <a:cs typeface="Calibri"/>
              </a:rPr>
              <a:t> </a:t>
            </a:r>
            <a:r>
              <a:rPr sz="1400" b="1" spc="-20" dirty="0">
                <a:latin typeface="Calibri"/>
                <a:cs typeface="Calibri"/>
              </a:rPr>
              <a:t>Tower</a:t>
            </a:r>
            <a:r>
              <a:rPr sz="1400" b="1" spc="-2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/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spc="-25" dirty="0">
                <a:latin typeface="Calibri"/>
                <a:cs typeface="Calibri"/>
              </a:rPr>
              <a:t>Th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763553" y="5949226"/>
            <a:ext cx="483234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latin typeface="Calibri"/>
                <a:cs typeface="Calibri"/>
              </a:rPr>
              <a:t>ailand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176769" y="5950699"/>
            <a:ext cx="180022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Calibri"/>
                <a:cs typeface="Calibri"/>
              </a:rPr>
              <a:t>LG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Group</a:t>
            </a:r>
            <a:r>
              <a:rPr sz="1400" b="1" spc="-35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Tower</a:t>
            </a:r>
            <a:r>
              <a:rPr sz="1400" b="1" spc="-1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/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Korea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809998" y="5955302"/>
            <a:ext cx="1362075" cy="2139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200" b="1" dirty="0">
                <a:latin typeface="Calibri"/>
                <a:cs typeface="Calibri"/>
              </a:rPr>
              <a:t>ASEM</a:t>
            </a:r>
            <a:r>
              <a:rPr sz="1200" b="1" spc="2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Tower</a:t>
            </a:r>
            <a:r>
              <a:rPr sz="1200" b="1" spc="3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/</a:t>
            </a:r>
            <a:r>
              <a:rPr sz="1200" b="1" spc="10" dirty="0">
                <a:latin typeface="Calibri"/>
                <a:cs typeface="Calibri"/>
              </a:rPr>
              <a:t> </a:t>
            </a:r>
            <a:r>
              <a:rPr sz="1200" b="1" spc="-20" dirty="0">
                <a:latin typeface="Calibri"/>
                <a:cs typeface="Calibri"/>
              </a:rPr>
              <a:t>Korea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3850" dirty="0"/>
              <a:t>LGS</a:t>
            </a:r>
            <a:r>
              <a:rPr sz="3850" spc="-180" dirty="0"/>
              <a:t> </a:t>
            </a:r>
            <a:r>
              <a:rPr sz="3850" dirty="0"/>
              <a:t>Member’s</a:t>
            </a:r>
            <a:r>
              <a:rPr sz="3850" spc="-150" dirty="0"/>
              <a:t> </a:t>
            </a:r>
            <a:r>
              <a:rPr sz="3850" dirty="0"/>
              <a:t>Projects</a:t>
            </a:r>
            <a:r>
              <a:rPr sz="3850" spc="-150" dirty="0"/>
              <a:t> </a:t>
            </a:r>
            <a:r>
              <a:rPr sz="3850" spc="-10" dirty="0"/>
              <a:t>(Involved)</a:t>
            </a:r>
            <a:endParaRPr sz="3850"/>
          </a:p>
        </p:txBody>
      </p:sp>
      <p:sp>
        <p:nvSpPr>
          <p:cNvPr id="14" name="object 6">
            <a:extLst>
              <a:ext uri="{FF2B5EF4-FFF2-40B4-BE49-F238E27FC236}">
                <a16:creationId xmlns:a16="http://schemas.microsoft.com/office/drawing/2014/main" id="{EF2CF4F1-A4E3-4F67-2D86-924B85834289}"/>
              </a:ext>
            </a:extLst>
          </p:cNvPr>
          <p:cNvSpPr txBox="1"/>
          <p:nvPr/>
        </p:nvSpPr>
        <p:spPr>
          <a:xfrm>
            <a:off x="1371697" y="2131518"/>
            <a:ext cx="1394460" cy="201978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z="1200" b="1" dirty="0">
                <a:latin typeface="Calibri"/>
                <a:cs typeface="Calibri"/>
              </a:rPr>
              <a:t>36</a:t>
            </a:r>
            <a:r>
              <a:rPr sz="1200" b="1" dirty="0">
                <a:latin typeface="Calibri"/>
                <a:cs typeface="Calibri"/>
              </a:rPr>
              <a:t>0</a:t>
            </a:r>
            <a:r>
              <a:rPr sz="1200" b="1" spc="5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m/min</a:t>
            </a:r>
            <a:r>
              <a:rPr sz="1200" b="1" spc="8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(</a:t>
            </a:r>
            <a:r>
              <a:rPr lang="en-US" sz="1200" b="1" dirty="0">
                <a:latin typeface="Calibri"/>
                <a:cs typeface="Calibri"/>
              </a:rPr>
              <a:t>6</a:t>
            </a:r>
            <a:r>
              <a:rPr sz="1200" b="1" spc="35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m/sec)</a:t>
            </a:r>
            <a:endParaRPr sz="1200" dirty="0">
              <a:latin typeface="Calibri"/>
              <a:cs typeface="Calibri"/>
            </a:endParaRPr>
          </a:p>
        </p:txBody>
      </p:sp>
      <p:pic>
        <p:nvPicPr>
          <p:cNvPr id="16" name="그림 15" descr="대도시, 건물, 타워 블록, 수도권이(가) 표시된 사진&#10;&#10;자동 생성된 설명">
            <a:extLst>
              <a:ext uri="{FF2B5EF4-FFF2-40B4-BE49-F238E27FC236}">
                <a16:creationId xmlns:a16="http://schemas.microsoft.com/office/drawing/2014/main" id="{3E99D85E-E531-48B5-B063-5E98F5A1525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4470" y="2345566"/>
            <a:ext cx="1790700" cy="3581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100759"/>
            <a:ext cx="10692130" cy="353507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3850" dirty="0"/>
              <a:t>LGS</a:t>
            </a:r>
            <a:r>
              <a:rPr sz="3850" spc="-180" dirty="0"/>
              <a:t> </a:t>
            </a:r>
            <a:r>
              <a:rPr sz="3850" dirty="0"/>
              <a:t>Member’s</a:t>
            </a:r>
            <a:r>
              <a:rPr sz="3850" spc="-150" dirty="0"/>
              <a:t> </a:t>
            </a:r>
            <a:r>
              <a:rPr sz="3850" dirty="0"/>
              <a:t>Projects</a:t>
            </a:r>
            <a:r>
              <a:rPr sz="3850" spc="-150" dirty="0"/>
              <a:t> </a:t>
            </a:r>
            <a:r>
              <a:rPr sz="3850" spc="-10" dirty="0"/>
              <a:t>(Involved)</a:t>
            </a:r>
            <a:endParaRPr sz="385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6358A33A-2E80-C090-7553-935CAE52E0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71625"/>
            <a:ext cx="10693400" cy="464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C77AC3B-1396-BBE7-A492-FAF52C4F360B}"/>
              </a:ext>
            </a:extLst>
          </p:cNvPr>
          <p:cNvSpPr txBox="1"/>
          <p:nvPr/>
        </p:nvSpPr>
        <p:spPr>
          <a:xfrm>
            <a:off x="33020" y="6425793"/>
            <a:ext cx="544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INCHEON INTERNATIONAL AIRPORT / KOREA (700 UNITS)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100759"/>
            <a:ext cx="10692130" cy="353507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3850" dirty="0"/>
              <a:t>LGS</a:t>
            </a:r>
            <a:r>
              <a:rPr sz="3850" spc="-180" dirty="0"/>
              <a:t> </a:t>
            </a:r>
            <a:r>
              <a:rPr sz="3850" dirty="0"/>
              <a:t>Member’s</a:t>
            </a:r>
            <a:r>
              <a:rPr sz="3850" spc="-150" dirty="0"/>
              <a:t> </a:t>
            </a:r>
            <a:r>
              <a:rPr sz="3850" dirty="0"/>
              <a:t>Projects</a:t>
            </a:r>
            <a:r>
              <a:rPr sz="3850" spc="-150" dirty="0"/>
              <a:t> </a:t>
            </a:r>
            <a:r>
              <a:rPr sz="3850" spc="-10" dirty="0"/>
              <a:t>(Involved)</a:t>
            </a:r>
            <a:endParaRPr sz="385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6358A33A-2E80-C090-7553-935CAE52E0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790825"/>
            <a:ext cx="10693400" cy="228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C77AC3B-1396-BBE7-A492-FAF52C4F360B}"/>
              </a:ext>
            </a:extLst>
          </p:cNvPr>
          <p:cNvSpPr txBox="1"/>
          <p:nvPr/>
        </p:nvSpPr>
        <p:spPr>
          <a:xfrm>
            <a:off x="2540" y="6406508"/>
            <a:ext cx="61518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HDB (HOUSING DEVELOPMENT BOARD) / SINGAPORE HDB 9</a:t>
            </a:r>
            <a:r>
              <a:rPr lang="en-US" altLang="ko-KR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5</a:t>
            </a:r>
            <a:r>
              <a:rPr lang="en-US" altLang="ko-KR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LUP, 12</a:t>
            </a:r>
            <a:r>
              <a:rPr lang="en-US" altLang="ko-KR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LUP  (3,000 UNITS)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C42BBA8D-AA5D-7090-8A45-C0C5EF9573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71625"/>
            <a:ext cx="10693400" cy="464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58893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100759"/>
            <a:ext cx="10692130" cy="353507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3850" dirty="0"/>
              <a:t>LGS</a:t>
            </a:r>
            <a:r>
              <a:rPr sz="3850" spc="-180" dirty="0"/>
              <a:t> </a:t>
            </a:r>
            <a:r>
              <a:rPr sz="3850" dirty="0"/>
              <a:t>Member’s</a:t>
            </a:r>
            <a:r>
              <a:rPr sz="3850" spc="-150" dirty="0"/>
              <a:t> </a:t>
            </a:r>
            <a:r>
              <a:rPr sz="3850" dirty="0"/>
              <a:t>Projects</a:t>
            </a:r>
            <a:r>
              <a:rPr sz="3850" spc="-150" dirty="0"/>
              <a:t> </a:t>
            </a:r>
            <a:r>
              <a:rPr sz="3850" spc="-10" dirty="0"/>
              <a:t>(Involved)</a:t>
            </a:r>
            <a:endParaRPr sz="385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6358A33A-2E80-C090-7553-935CAE52E0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790825"/>
            <a:ext cx="10693400" cy="228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C77AC3B-1396-BBE7-A492-FAF52C4F360B}"/>
              </a:ext>
            </a:extLst>
          </p:cNvPr>
          <p:cNvSpPr txBox="1"/>
          <p:nvPr/>
        </p:nvSpPr>
        <p:spPr>
          <a:xfrm>
            <a:off x="2540" y="6406508"/>
            <a:ext cx="6151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SAMBIL / VENEZUELA  (50 UNITS)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C42BBA8D-AA5D-7090-8A45-C0C5EF9573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71625"/>
            <a:ext cx="10693400" cy="464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그림 5" descr="건물, 창문, 문, 예술이(가) 표시된 사진">
            <a:extLst>
              <a:ext uri="{FF2B5EF4-FFF2-40B4-BE49-F238E27FC236}">
                <a16:creationId xmlns:a16="http://schemas.microsoft.com/office/drawing/2014/main" id="{75461907-5D1A-2F23-4E2E-4B119A356AA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70" y="1571625"/>
            <a:ext cx="10693400" cy="464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1418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2100759"/>
            <a:ext cx="10692130" cy="353507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3850" dirty="0"/>
              <a:t>LGS</a:t>
            </a:r>
            <a:r>
              <a:rPr sz="3850" spc="-180" dirty="0"/>
              <a:t> </a:t>
            </a:r>
            <a:r>
              <a:rPr sz="3850" dirty="0"/>
              <a:t>Member’s</a:t>
            </a:r>
            <a:r>
              <a:rPr sz="3850" spc="-150" dirty="0"/>
              <a:t> </a:t>
            </a:r>
            <a:r>
              <a:rPr sz="3850" dirty="0"/>
              <a:t>Projects</a:t>
            </a:r>
            <a:r>
              <a:rPr sz="3850" spc="-150" dirty="0"/>
              <a:t> </a:t>
            </a:r>
            <a:r>
              <a:rPr sz="3850" spc="-10" dirty="0"/>
              <a:t>(Involved)</a:t>
            </a:r>
            <a:endParaRPr sz="385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6358A33A-2E80-C090-7553-935CAE52E0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790825"/>
            <a:ext cx="10693400" cy="228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C77AC3B-1396-BBE7-A492-FAF52C4F360B}"/>
              </a:ext>
            </a:extLst>
          </p:cNvPr>
          <p:cNvSpPr txBox="1"/>
          <p:nvPr/>
        </p:nvSpPr>
        <p:spPr>
          <a:xfrm>
            <a:off x="2540" y="6406508"/>
            <a:ext cx="6151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TAMAN ANGGREK / INDONESIA  (50 UNITS)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C42BBA8D-AA5D-7090-8A45-C0C5EF9573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71625"/>
            <a:ext cx="10693400" cy="464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그림 5" descr="건물, 창문, 문, 예술이(가) 표시된 사진">
            <a:extLst>
              <a:ext uri="{FF2B5EF4-FFF2-40B4-BE49-F238E27FC236}">
                <a16:creationId xmlns:a16="http://schemas.microsoft.com/office/drawing/2014/main" id="{75461907-5D1A-2F23-4E2E-4B119A356AA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70" y="1571625"/>
            <a:ext cx="10693400" cy="4648200"/>
          </a:xfrm>
          <a:prstGeom prst="rect">
            <a:avLst/>
          </a:prstGeom>
        </p:spPr>
      </p:pic>
      <p:pic>
        <p:nvPicPr>
          <p:cNvPr id="7" name="그림 6" descr="건물, 야외, 수도권, 타워 블록이(가) 표시된 사진">
            <a:extLst>
              <a:ext uri="{FF2B5EF4-FFF2-40B4-BE49-F238E27FC236}">
                <a16:creationId xmlns:a16="http://schemas.microsoft.com/office/drawing/2014/main" id="{FCD38590-EBC9-40E9-789E-B0BBB139B88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40" y="1581837"/>
            <a:ext cx="10693400" cy="4627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43638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772668"/>
            <a:ext cx="10692130" cy="601446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78022" y="4463351"/>
            <a:ext cx="4599940" cy="1470025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 marR="5080">
              <a:lnSpc>
                <a:spcPts val="5690"/>
              </a:lnSpc>
              <a:spcBef>
                <a:spcPts val="195"/>
              </a:spcBef>
            </a:pPr>
            <a:r>
              <a:rPr sz="4750" dirty="0"/>
              <a:t>LGS</a:t>
            </a:r>
            <a:r>
              <a:rPr sz="4750" spc="-235" dirty="0"/>
              <a:t> </a:t>
            </a:r>
            <a:r>
              <a:rPr sz="4750" spc="-10" dirty="0"/>
              <a:t>Elevator</a:t>
            </a:r>
            <a:r>
              <a:rPr sz="4750" spc="-190" dirty="0"/>
              <a:t> </a:t>
            </a:r>
            <a:r>
              <a:rPr sz="4750" spc="-10" dirty="0"/>
              <a:t>Korea Signature</a:t>
            </a:r>
            <a:r>
              <a:rPr sz="4750" spc="-204" dirty="0"/>
              <a:t> </a:t>
            </a:r>
            <a:r>
              <a:rPr sz="4750" spc="-10" dirty="0"/>
              <a:t>Projects</a:t>
            </a:r>
            <a:endParaRPr sz="475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내용 개체 틀 7" descr="대중 교통, 기차, 차량, 기차역이(가) 표시된 사진&#10;&#10;자동 생성된 설명">
            <a:extLst>
              <a:ext uri="{FF2B5EF4-FFF2-40B4-BE49-F238E27FC236}">
                <a16:creationId xmlns:a16="http://schemas.microsoft.com/office/drawing/2014/main" id="{1511E840-5E14-E438-065F-F1A6894AB1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493" y="2040963"/>
            <a:ext cx="7946533" cy="3816486"/>
          </a:xfrm>
        </p:spPr>
      </p:pic>
      <p:sp>
        <p:nvSpPr>
          <p:cNvPr id="16" name="제목 8">
            <a:extLst>
              <a:ext uri="{FF2B5EF4-FFF2-40B4-BE49-F238E27FC236}">
                <a16:creationId xmlns:a16="http://schemas.microsoft.com/office/drawing/2014/main" id="{0A3DC8CF-5EBF-DB90-512F-01035FB58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686" y="809625"/>
            <a:ext cx="10536341" cy="475837"/>
          </a:xfrm>
          <a:solidFill>
            <a:srgbClr val="E01F65"/>
          </a:solidFill>
        </p:spPr>
        <p:txBody>
          <a:bodyPr>
            <a:noAutofit/>
          </a:bodyPr>
          <a:lstStyle/>
          <a:p>
            <a:pPr algn="l"/>
            <a:r>
              <a:rPr lang="en-US" altLang="ko-KR" sz="38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LGS Elevator Signature Projects</a:t>
            </a:r>
            <a:endParaRPr lang="ko-KR" altLang="en-US" sz="385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0076B52-364A-A7E3-4053-A18860F901BC}"/>
              </a:ext>
            </a:extLst>
          </p:cNvPr>
          <p:cNvSpPr txBox="1"/>
          <p:nvPr/>
        </p:nvSpPr>
        <p:spPr>
          <a:xfrm>
            <a:off x="1430242" y="5968282"/>
            <a:ext cx="4514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TOKYO TOWN / MONGOLIA</a:t>
            </a:r>
          </a:p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(30 UNITS)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3" name="그림 22" descr="야외, 하늘, 건물, 상업용 건물이(가) 표시된 사진">
            <a:extLst>
              <a:ext uri="{FF2B5EF4-FFF2-40B4-BE49-F238E27FC236}">
                <a16:creationId xmlns:a16="http://schemas.microsoft.com/office/drawing/2014/main" id="{9193AA95-EFCF-FE65-DB51-F11FF92DD8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493" y="2040964"/>
            <a:ext cx="7946533" cy="3816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2170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내용 개체 틀 7" descr="대중 교통, 기차, 차량, 기차역이(가) 표시된 사진&#10;&#10;자동 생성된 설명">
            <a:extLst>
              <a:ext uri="{FF2B5EF4-FFF2-40B4-BE49-F238E27FC236}">
                <a16:creationId xmlns:a16="http://schemas.microsoft.com/office/drawing/2014/main" id="{1511E840-5E14-E438-065F-F1A6894AB1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493" y="2040963"/>
            <a:ext cx="7946533" cy="3816486"/>
          </a:xfr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F0076B52-364A-A7E3-4053-A18860F901BC}"/>
              </a:ext>
            </a:extLst>
          </p:cNvPr>
          <p:cNvSpPr txBox="1"/>
          <p:nvPr/>
        </p:nvSpPr>
        <p:spPr>
          <a:xfrm>
            <a:off x="1430242" y="5968282"/>
            <a:ext cx="4514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YARMAG / MONGOLIA</a:t>
            </a:r>
          </a:p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(44 UNITS)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3" name="그림 22" descr="야외, 하늘, 건물, 상업용 건물이(가) 표시된 사진">
            <a:extLst>
              <a:ext uri="{FF2B5EF4-FFF2-40B4-BE49-F238E27FC236}">
                <a16:creationId xmlns:a16="http://schemas.microsoft.com/office/drawing/2014/main" id="{9193AA95-EFCF-FE65-DB51-F11FF92DD8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493" y="2042076"/>
            <a:ext cx="7946533" cy="3815373"/>
          </a:xfrm>
          <a:prstGeom prst="rect">
            <a:avLst/>
          </a:prstGeom>
        </p:spPr>
      </p:pic>
      <p:pic>
        <p:nvPicPr>
          <p:cNvPr id="3" name="그림 2" descr="축적 모형, 건물, 도시 디자인, 회로이(가) 표시된 사진&#10;&#10;자동 생성된 설명">
            <a:extLst>
              <a:ext uri="{FF2B5EF4-FFF2-40B4-BE49-F238E27FC236}">
                <a16:creationId xmlns:a16="http://schemas.microsoft.com/office/drawing/2014/main" id="{3470B682-C16E-2DEC-A7FB-1530B8C472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494" y="2040963"/>
            <a:ext cx="7946533" cy="3815373"/>
          </a:xfrm>
          <a:prstGeom prst="rect">
            <a:avLst/>
          </a:prstGeom>
        </p:spPr>
      </p:pic>
      <p:sp>
        <p:nvSpPr>
          <p:cNvPr id="4" name="제목 3">
            <a:extLst>
              <a:ext uri="{FF2B5EF4-FFF2-40B4-BE49-F238E27FC236}">
                <a16:creationId xmlns:a16="http://schemas.microsoft.com/office/drawing/2014/main" id="{4C053F48-969D-E241-E3CB-F591FEBD9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LGS Elevator Signature</a:t>
            </a:r>
            <a:r>
              <a:rPr lang="en-US" altLang="ko-KR" baseline="0" dirty="0"/>
              <a:t> Projects</a:t>
            </a:r>
            <a:endParaRPr lang="ko-KR" altLang="en-US" dirty="0"/>
          </a:p>
        </p:txBody>
      </p:sp>
      <p:sp>
        <p:nvSpPr>
          <p:cNvPr id="7" name="제목 8">
            <a:extLst>
              <a:ext uri="{FF2B5EF4-FFF2-40B4-BE49-F238E27FC236}">
                <a16:creationId xmlns:a16="http://schemas.microsoft.com/office/drawing/2014/main" id="{07E23F73-A982-A4F3-1534-F417652FBB31}"/>
              </a:ext>
            </a:extLst>
          </p:cNvPr>
          <p:cNvSpPr txBox="1">
            <a:spLocks/>
          </p:cNvSpPr>
          <p:nvPr/>
        </p:nvSpPr>
        <p:spPr>
          <a:xfrm>
            <a:off x="176686" y="809625"/>
            <a:ext cx="10536341" cy="475837"/>
          </a:xfrm>
          <a:prstGeom prst="rect">
            <a:avLst/>
          </a:prstGeom>
          <a:solidFill>
            <a:srgbClr val="E01F65"/>
          </a:solidFill>
        </p:spPr>
        <p:txBody>
          <a:bodyPr wrap="square" lIns="0" tIns="0" rIns="0" bIns="0">
            <a:noAutofit/>
          </a:bodyPr>
          <a:lstStyle>
            <a:lvl1pPr>
              <a:defRPr sz="3500" b="0" i="0">
                <a:solidFill>
                  <a:schemeClr val="bg1"/>
                </a:solidFill>
                <a:latin typeface="Calibri"/>
                <a:ea typeface="+mj-ea"/>
                <a:cs typeface="Calibri"/>
              </a:defRPr>
            </a:lvl1pPr>
          </a:lstStyle>
          <a:p>
            <a:pPr algn="l"/>
            <a:r>
              <a:rPr lang="en-US" altLang="ko-KR" sz="38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LGS Elevator Signature Projects</a:t>
            </a:r>
            <a:endParaRPr lang="ko-KR" altLang="en-US" sz="385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30333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내용 개체 틀 7" descr="대중 교통, 기차, 차량, 기차역이(가) 표시된 사진&#10;&#10;자동 생성된 설명">
            <a:extLst>
              <a:ext uri="{FF2B5EF4-FFF2-40B4-BE49-F238E27FC236}">
                <a16:creationId xmlns:a16="http://schemas.microsoft.com/office/drawing/2014/main" id="{1511E840-5E14-E438-065F-F1A6894AB1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493" y="2040963"/>
            <a:ext cx="7946533" cy="3816486"/>
          </a:xfr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F0076B52-364A-A7E3-4053-A18860F901BC}"/>
              </a:ext>
            </a:extLst>
          </p:cNvPr>
          <p:cNvSpPr txBox="1"/>
          <p:nvPr/>
        </p:nvSpPr>
        <p:spPr>
          <a:xfrm>
            <a:off x="1430242" y="5968282"/>
            <a:ext cx="4514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SURUGA RESIDENCE / MONGOLIA</a:t>
            </a:r>
          </a:p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(8 UNITS)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3" name="그림 22" descr="야외, 하늘, 건물, 상업용 건물이(가) 표시된 사진">
            <a:extLst>
              <a:ext uri="{FF2B5EF4-FFF2-40B4-BE49-F238E27FC236}">
                <a16:creationId xmlns:a16="http://schemas.microsoft.com/office/drawing/2014/main" id="{9193AA95-EFCF-FE65-DB51-F11FF92DD8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493" y="2042076"/>
            <a:ext cx="7946533" cy="3815373"/>
          </a:xfrm>
          <a:prstGeom prst="rect">
            <a:avLst/>
          </a:prstGeom>
        </p:spPr>
      </p:pic>
      <p:pic>
        <p:nvPicPr>
          <p:cNvPr id="3" name="그림 2" descr="축적 모형, 건물, 도시 디자인, 회로이(가) 표시된 사진&#10;&#10;자동 생성된 설명">
            <a:extLst>
              <a:ext uri="{FF2B5EF4-FFF2-40B4-BE49-F238E27FC236}">
                <a16:creationId xmlns:a16="http://schemas.microsoft.com/office/drawing/2014/main" id="{3470B682-C16E-2DEC-A7FB-1530B8C472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494" y="2040963"/>
            <a:ext cx="7946533" cy="3815373"/>
          </a:xfrm>
          <a:prstGeom prst="rect">
            <a:avLst/>
          </a:prstGeom>
        </p:spPr>
      </p:pic>
      <p:pic>
        <p:nvPicPr>
          <p:cNvPr id="4" name="그림 3" descr="텍스트, 하늘, 타워 블록, 야외이(가) 표시된 사진">
            <a:extLst>
              <a:ext uri="{FF2B5EF4-FFF2-40B4-BE49-F238E27FC236}">
                <a16:creationId xmlns:a16="http://schemas.microsoft.com/office/drawing/2014/main" id="{4EF94882-0C7A-12BE-2702-C6E50F68937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492" y="2039850"/>
            <a:ext cx="7946533" cy="3815373"/>
          </a:xfrm>
          <a:prstGeom prst="rect">
            <a:avLst/>
          </a:prstGeom>
        </p:spPr>
      </p:pic>
      <p:sp>
        <p:nvSpPr>
          <p:cNvPr id="5" name="제목 4">
            <a:extLst>
              <a:ext uri="{FF2B5EF4-FFF2-40B4-BE49-F238E27FC236}">
                <a16:creationId xmlns:a16="http://schemas.microsoft.com/office/drawing/2014/main" id="{078DB7C9-17C9-1310-3841-39E30B96F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500" b="0" i="0" dirty="0">
                <a:solidFill>
                  <a:schemeClr val="bg1"/>
                </a:solidFill>
                <a:effectLst/>
                <a:latin typeface="Calibri"/>
                <a:ea typeface="+mj-ea"/>
                <a:cs typeface="Calibri"/>
              </a:rPr>
              <a:t>LGS Elevator Signature Projects</a:t>
            </a:r>
            <a:endParaRPr lang="ko-KR" altLang="en-US" dirty="0"/>
          </a:p>
        </p:txBody>
      </p:sp>
      <p:sp>
        <p:nvSpPr>
          <p:cNvPr id="9" name="제목 8">
            <a:extLst>
              <a:ext uri="{FF2B5EF4-FFF2-40B4-BE49-F238E27FC236}">
                <a16:creationId xmlns:a16="http://schemas.microsoft.com/office/drawing/2014/main" id="{0252DA9A-3646-882C-DE40-A80EA9A0DDE4}"/>
              </a:ext>
            </a:extLst>
          </p:cNvPr>
          <p:cNvSpPr txBox="1">
            <a:spLocks/>
          </p:cNvSpPr>
          <p:nvPr/>
        </p:nvSpPr>
        <p:spPr>
          <a:xfrm>
            <a:off x="176686" y="809625"/>
            <a:ext cx="10536341" cy="475837"/>
          </a:xfrm>
          <a:prstGeom prst="rect">
            <a:avLst/>
          </a:prstGeom>
          <a:solidFill>
            <a:srgbClr val="E01F65"/>
          </a:solidFill>
        </p:spPr>
        <p:txBody>
          <a:bodyPr wrap="square" lIns="0" tIns="0" rIns="0" bIns="0">
            <a:noAutofit/>
          </a:bodyPr>
          <a:lstStyle>
            <a:lvl1pPr>
              <a:defRPr sz="3500" b="0" i="0">
                <a:solidFill>
                  <a:schemeClr val="bg1"/>
                </a:solidFill>
                <a:latin typeface="Calibri"/>
                <a:ea typeface="+mj-ea"/>
                <a:cs typeface="Calibri"/>
              </a:defRPr>
            </a:lvl1pPr>
          </a:lstStyle>
          <a:p>
            <a:pPr algn="l"/>
            <a:r>
              <a:rPr lang="en-US" altLang="ko-KR" sz="385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LGS Elevator Signature Projects</a:t>
            </a:r>
            <a:endParaRPr lang="ko-KR" altLang="en-US" sz="385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19529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내용 개체 틀 7" descr="대중 교통, 기차, 차량, 기차역이(가) 표시된 사진&#10;&#10;자동 생성된 설명">
            <a:extLst>
              <a:ext uri="{FF2B5EF4-FFF2-40B4-BE49-F238E27FC236}">
                <a16:creationId xmlns:a16="http://schemas.microsoft.com/office/drawing/2014/main" id="{1511E840-5E14-E438-065F-F1A6894AB1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493" y="2040963"/>
            <a:ext cx="7946533" cy="3816486"/>
          </a:xfr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F0076B52-364A-A7E3-4053-A18860F901BC}"/>
              </a:ext>
            </a:extLst>
          </p:cNvPr>
          <p:cNvSpPr txBox="1"/>
          <p:nvPr/>
        </p:nvSpPr>
        <p:spPr>
          <a:xfrm>
            <a:off x="1430242" y="5968282"/>
            <a:ext cx="4514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MASTER ENGINEERING / MONGOLIA</a:t>
            </a:r>
          </a:p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(8 UNITS)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3" name="그림 22" descr="야외, 하늘, 건물, 상업용 건물이(가) 표시된 사진">
            <a:extLst>
              <a:ext uri="{FF2B5EF4-FFF2-40B4-BE49-F238E27FC236}">
                <a16:creationId xmlns:a16="http://schemas.microsoft.com/office/drawing/2014/main" id="{9193AA95-EFCF-FE65-DB51-F11FF92DD8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493" y="2042076"/>
            <a:ext cx="7946533" cy="3815373"/>
          </a:xfrm>
          <a:prstGeom prst="rect">
            <a:avLst/>
          </a:prstGeom>
        </p:spPr>
      </p:pic>
      <p:pic>
        <p:nvPicPr>
          <p:cNvPr id="3" name="그림 2" descr="축적 모형, 건물, 도시 디자인, 회로이(가) 표시된 사진&#10;&#10;자동 생성된 설명">
            <a:extLst>
              <a:ext uri="{FF2B5EF4-FFF2-40B4-BE49-F238E27FC236}">
                <a16:creationId xmlns:a16="http://schemas.microsoft.com/office/drawing/2014/main" id="{3470B682-C16E-2DEC-A7FB-1530B8C472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494" y="2040963"/>
            <a:ext cx="7946533" cy="3815373"/>
          </a:xfrm>
          <a:prstGeom prst="rect">
            <a:avLst/>
          </a:prstGeom>
        </p:spPr>
      </p:pic>
      <p:pic>
        <p:nvPicPr>
          <p:cNvPr id="4" name="그림 3" descr="텍스트, 하늘, 타워 블록, 야외이(가) 표시된 사진">
            <a:extLst>
              <a:ext uri="{FF2B5EF4-FFF2-40B4-BE49-F238E27FC236}">
                <a16:creationId xmlns:a16="http://schemas.microsoft.com/office/drawing/2014/main" id="{4EF94882-0C7A-12BE-2702-C6E50F68937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493" y="2040963"/>
            <a:ext cx="7946533" cy="3815373"/>
          </a:xfrm>
          <a:prstGeom prst="rect">
            <a:avLst/>
          </a:prstGeom>
        </p:spPr>
      </p:pic>
      <p:pic>
        <p:nvPicPr>
          <p:cNvPr id="5" name="그림 4" descr="건물, 항공 사진, 도시 디자인, 공중의이(가) 표시된 사진">
            <a:extLst>
              <a:ext uri="{FF2B5EF4-FFF2-40B4-BE49-F238E27FC236}">
                <a16:creationId xmlns:a16="http://schemas.microsoft.com/office/drawing/2014/main" id="{83E87972-41B2-D62A-B3C6-16D7ED584BF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492" y="2040963"/>
            <a:ext cx="7946533" cy="3815373"/>
          </a:xfrm>
          <a:prstGeom prst="rect">
            <a:avLst/>
          </a:prstGeom>
        </p:spPr>
      </p:pic>
      <p:sp>
        <p:nvSpPr>
          <p:cNvPr id="6" name="제목 5">
            <a:extLst>
              <a:ext uri="{FF2B5EF4-FFF2-40B4-BE49-F238E27FC236}">
                <a16:creationId xmlns:a16="http://schemas.microsoft.com/office/drawing/2014/main" id="{4177F03E-C412-235F-23E0-7BD400CB7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500" b="0" i="0" dirty="0">
                <a:solidFill>
                  <a:schemeClr val="bg1"/>
                </a:solidFill>
                <a:effectLst/>
                <a:latin typeface="Calibri"/>
                <a:ea typeface="+mj-ea"/>
                <a:cs typeface="Calibri"/>
              </a:rPr>
              <a:t>LGS Elevator Signature Projects</a:t>
            </a:r>
            <a:endParaRPr lang="ko-KR" altLang="en-US" dirty="0"/>
          </a:p>
        </p:txBody>
      </p:sp>
      <p:sp>
        <p:nvSpPr>
          <p:cNvPr id="10" name="제목 8">
            <a:extLst>
              <a:ext uri="{FF2B5EF4-FFF2-40B4-BE49-F238E27FC236}">
                <a16:creationId xmlns:a16="http://schemas.microsoft.com/office/drawing/2014/main" id="{CEA94E8D-9B24-675F-6C59-93935F00816A}"/>
              </a:ext>
            </a:extLst>
          </p:cNvPr>
          <p:cNvSpPr txBox="1">
            <a:spLocks/>
          </p:cNvSpPr>
          <p:nvPr/>
        </p:nvSpPr>
        <p:spPr>
          <a:xfrm>
            <a:off x="176686" y="809625"/>
            <a:ext cx="10536341" cy="475837"/>
          </a:xfrm>
          <a:prstGeom prst="rect">
            <a:avLst/>
          </a:prstGeom>
          <a:solidFill>
            <a:srgbClr val="E01F65"/>
          </a:solidFill>
        </p:spPr>
        <p:txBody>
          <a:bodyPr wrap="square" lIns="0" tIns="0" rIns="0" bIns="0">
            <a:noAutofit/>
          </a:bodyPr>
          <a:lstStyle>
            <a:lvl1pPr>
              <a:defRPr sz="3500" b="0" i="0">
                <a:solidFill>
                  <a:schemeClr val="bg1"/>
                </a:solidFill>
                <a:latin typeface="Calibri"/>
                <a:ea typeface="+mj-ea"/>
                <a:cs typeface="Calibri"/>
              </a:defRPr>
            </a:lvl1pPr>
          </a:lstStyle>
          <a:p>
            <a:pPr algn="l"/>
            <a:r>
              <a:rPr lang="en-US" altLang="ko-KR" sz="385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LGS Elevator Signature Projects</a:t>
            </a:r>
            <a:endParaRPr lang="ko-KR" altLang="en-US" sz="385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63683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내용 개체 틀 7" descr="대중 교통, 기차, 차량, 기차역이(가) 표시된 사진&#10;&#10;자동 생성된 설명">
            <a:extLst>
              <a:ext uri="{FF2B5EF4-FFF2-40B4-BE49-F238E27FC236}">
                <a16:creationId xmlns:a16="http://schemas.microsoft.com/office/drawing/2014/main" id="{1511E840-5E14-E438-065F-F1A6894AB1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493" y="2040963"/>
            <a:ext cx="7946533" cy="3816486"/>
          </a:xfr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F0076B52-364A-A7E3-4053-A18860F901BC}"/>
              </a:ext>
            </a:extLst>
          </p:cNvPr>
          <p:cNvSpPr txBox="1"/>
          <p:nvPr/>
        </p:nvSpPr>
        <p:spPr>
          <a:xfrm>
            <a:off x="1430242" y="5968282"/>
            <a:ext cx="4514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MILLENIUM TOWER / MONGOLIA</a:t>
            </a:r>
          </a:p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(6 UNITS)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3" name="그림 22" descr="야외, 하늘, 건물, 상업용 건물이(가) 표시된 사진">
            <a:extLst>
              <a:ext uri="{FF2B5EF4-FFF2-40B4-BE49-F238E27FC236}">
                <a16:creationId xmlns:a16="http://schemas.microsoft.com/office/drawing/2014/main" id="{9193AA95-EFCF-FE65-DB51-F11FF92DD8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493" y="2042076"/>
            <a:ext cx="7946533" cy="3815373"/>
          </a:xfrm>
          <a:prstGeom prst="rect">
            <a:avLst/>
          </a:prstGeom>
        </p:spPr>
      </p:pic>
      <p:pic>
        <p:nvPicPr>
          <p:cNvPr id="3" name="그림 2" descr="축적 모형, 건물, 도시 디자인, 회로이(가) 표시된 사진&#10;&#10;자동 생성된 설명">
            <a:extLst>
              <a:ext uri="{FF2B5EF4-FFF2-40B4-BE49-F238E27FC236}">
                <a16:creationId xmlns:a16="http://schemas.microsoft.com/office/drawing/2014/main" id="{3470B682-C16E-2DEC-A7FB-1530B8C472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494" y="2040963"/>
            <a:ext cx="7946533" cy="3815373"/>
          </a:xfrm>
          <a:prstGeom prst="rect">
            <a:avLst/>
          </a:prstGeom>
        </p:spPr>
      </p:pic>
      <p:pic>
        <p:nvPicPr>
          <p:cNvPr id="4" name="그림 3" descr="텍스트, 하늘, 타워 블록, 야외이(가) 표시된 사진">
            <a:extLst>
              <a:ext uri="{FF2B5EF4-FFF2-40B4-BE49-F238E27FC236}">
                <a16:creationId xmlns:a16="http://schemas.microsoft.com/office/drawing/2014/main" id="{4EF94882-0C7A-12BE-2702-C6E50F68937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493" y="2040963"/>
            <a:ext cx="7946533" cy="3815373"/>
          </a:xfrm>
          <a:prstGeom prst="rect">
            <a:avLst/>
          </a:prstGeom>
        </p:spPr>
      </p:pic>
      <p:pic>
        <p:nvPicPr>
          <p:cNvPr id="5" name="그림 4" descr="건물, 항공 사진, 도시 디자인, 공중의이(가) 표시된 사진">
            <a:extLst>
              <a:ext uri="{FF2B5EF4-FFF2-40B4-BE49-F238E27FC236}">
                <a16:creationId xmlns:a16="http://schemas.microsoft.com/office/drawing/2014/main" id="{83E87972-41B2-D62A-B3C6-16D7ED584BF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492" y="2040963"/>
            <a:ext cx="7946533" cy="3815373"/>
          </a:xfrm>
          <a:prstGeom prst="rect">
            <a:avLst/>
          </a:prstGeom>
        </p:spPr>
      </p:pic>
      <p:pic>
        <p:nvPicPr>
          <p:cNvPr id="6" name="그림 5" descr="야외, 하늘, 건물, 밤이(가) 표시된 사진&#10;&#10;자동 생성된 설명">
            <a:extLst>
              <a:ext uri="{FF2B5EF4-FFF2-40B4-BE49-F238E27FC236}">
                <a16:creationId xmlns:a16="http://schemas.microsoft.com/office/drawing/2014/main" id="{DEBB6AF2-9C4C-4F0D-6899-CE4D03742011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491" y="2039850"/>
            <a:ext cx="7946533" cy="3815373"/>
          </a:xfrm>
          <a:prstGeom prst="rect">
            <a:avLst/>
          </a:prstGeom>
        </p:spPr>
      </p:pic>
      <p:sp>
        <p:nvSpPr>
          <p:cNvPr id="7" name="제목 6">
            <a:extLst>
              <a:ext uri="{FF2B5EF4-FFF2-40B4-BE49-F238E27FC236}">
                <a16:creationId xmlns:a16="http://schemas.microsoft.com/office/drawing/2014/main" id="{6E38C3CA-6200-7CD8-52A5-20469CBF3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500" b="0" i="0" dirty="0">
                <a:solidFill>
                  <a:schemeClr val="bg1"/>
                </a:solidFill>
                <a:effectLst/>
                <a:latin typeface="Calibri"/>
                <a:ea typeface="+mj-ea"/>
                <a:cs typeface="Calibri"/>
              </a:rPr>
              <a:t>LGS Elevator Signature Projects</a:t>
            </a:r>
            <a:endParaRPr lang="ko-KR" altLang="en-US" dirty="0"/>
          </a:p>
        </p:txBody>
      </p:sp>
      <p:sp>
        <p:nvSpPr>
          <p:cNvPr id="10" name="제목 8">
            <a:extLst>
              <a:ext uri="{FF2B5EF4-FFF2-40B4-BE49-F238E27FC236}">
                <a16:creationId xmlns:a16="http://schemas.microsoft.com/office/drawing/2014/main" id="{84B1A178-3171-9187-5D11-464AE1DB7D52}"/>
              </a:ext>
            </a:extLst>
          </p:cNvPr>
          <p:cNvSpPr txBox="1">
            <a:spLocks/>
          </p:cNvSpPr>
          <p:nvPr/>
        </p:nvSpPr>
        <p:spPr>
          <a:xfrm>
            <a:off x="176686" y="809625"/>
            <a:ext cx="10536341" cy="475837"/>
          </a:xfrm>
          <a:prstGeom prst="rect">
            <a:avLst/>
          </a:prstGeom>
          <a:solidFill>
            <a:srgbClr val="E01F65"/>
          </a:solidFill>
        </p:spPr>
        <p:txBody>
          <a:bodyPr wrap="square" lIns="0" tIns="0" rIns="0" bIns="0">
            <a:noAutofit/>
          </a:bodyPr>
          <a:lstStyle>
            <a:lvl1pPr>
              <a:defRPr sz="3500" b="0" i="0">
                <a:solidFill>
                  <a:schemeClr val="bg1"/>
                </a:solidFill>
                <a:latin typeface="Calibri"/>
                <a:ea typeface="+mj-ea"/>
                <a:cs typeface="Calibri"/>
              </a:defRPr>
            </a:lvl1pPr>
          </a:lstStyle>
          <a:p>
            <a:pPr algn="l"/>
            <a:r>
              <a:rPr lang="en-US" altLang="ko-KR" sz="385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LGS Elevator Signature Projects</a:t>
            </a:r>
            <a:endParaRPr lang="ko-KR" altLang="en-US" sz="385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03562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내용 개체 틀 7" descr="대중 교통, 기차, 차량, 기차역이(가) 표시된 사진&#10;&#10;자동 생성된 설명">
            <a:extLst>
              <a:ext uri="{FF2B5EF4-FFF2-40B4-BE49-F238E27FC236}">
                <a16:creationId xmlns:a16="http://schemas.microsoft.com/office/drawing/2014/main" id="{1511E840-5E14-E438-065F-F1A6894AB1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493" y="2040963"/>
            <a:ext cx="7946533" cy="3816486"/>
          </a:xfr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F0076B52-364A-A7E3-4053-A18860F901BC}"/>
              </a:ext>
            </a:extLst>
          </p:cNvPr>
          <p:cNvSpPr txBox="1"/>
          <p:nvPr/>
        </p:nvSpPr>
        <p:spPr>
          <a:xfrm>
            <a:off x="1430242" y="5968282"/>
            <a:ext cx="45146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ALMATY METRO STATIONS / KAZAKHSTAN</a:t>
            </a:r>
          </a:p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(32 UNITS)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35359D33-B610-6C35-CC8F-9E76B241B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500" b="0" i="0" dirty="0">
                <a:solidFill>
                  <a:schemeClr val="bg1"/>
                </a:solidFill>
                <a:effectLst/>
                <a:latin typeface="Calibri"/>
                <a:ea typeface="+mj-ea"/>
                <a:cs typeface="Calibri"/>
              </a:rPr>
              <a:t>LGS Elevator Signature Projects</a:t>
            </a:r>
            <a:endParaRPr lang="ko-KR" altLang="en-US" dirty="0"/>
          </a:p>
        </p:txBody>
      </p:sp>
      <p:sp>
        <p:nvSpPr>
          <p:cNvPr id="5" name="제목 8">
            <a:extLst>
              <a:ext uri="{FF2B5EF4-FFF2-40B4-BE49-F238E27FC236}">
                <a16:creationId xmlns:a16="http://schemas.microsoft.com/office/drawing/2014/main" id="{B6F2B4B6-EA48-6AAE-92BD-E89114FBDE76}"/>
              </a:ext>
            </a:extLst>
          </p:cNvPr>
          <p:cNvSpPr txBox="1">
            <a:spLocks/>
          </p:cNvSpPr>
          <p:nvPr/>
        </p:nvSpPr>
        <p:spPr>
          <a:xfrm>
            <a:off x="176686" y="809625"/>
            <a:ext cx="10536341" cy="475837"/>
          </a:xfrm>
          <a:prstGeom prst="rect">
            <a:avLst/>
          </a:prstGeom>
          <a:solidFill>
            <a:srgbClr val="E01F65"/>
          </a:solidFill>
        </p:spPr>
        <p:txBody>
          <a:bodyPr wrap="square" lIns="0" tIns="0" rIns="0" bIns="0">
            <a:noAutofit/>
          </a:bodyPr>
          <a:lstStyle>
            <a:lvl1pPr>
              <a:defRPr sz="3500" b="0" i="0">
                <a:solidFill>
                  <a:schemeClr val="bg1"/>
                </a:solidFill>
                <a:latin typeface="Calibri"/>
                <a:ea typeface="+mj-ea"/>
                <a:cs typeface="Calibri"/>
              </a:defRPr>
            </a:lvl1pPr>
          </a:lstStyle>
          <a:p>
            <a:pPr algn="l"/>
            <a:r>
              <a:rPr lang="en-US" altLang="ko-KR" sz="385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LGS Elevator Signature Projects</a:t>
            </a:r>
            <a:endParaRPr lang="ko-KR" altLang="en-US" sz="385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05683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내용 개체 틀 7" descr="대중 교통, 기차, 차량, 기차역이(가) 표시된 사진&#10;&#10;자동 생성된 설명">
            <a:extLst>
              <a:ext uri="{FF2B5EF4-FFF2-40B4-BE49-F238E27FC236}">
                <a16:creationId xmlns:a16="http://schemas.microsoft.com/office/drawing/2014/main" id="{1511E840-5E14-E438-065F-F1A6894AB1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493" y="2040963"/>
            <a:ext cx="7946533" cy="3816486"/>
          </a:xfr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F0076B52-364A-A7E3-4053-A18860F901BC}"/>
              </a:ext>
            </a:extLst>
          </p:cNvPr>
          <p:cNvSpPr txBox="1"/>
          <p:nvPr/>
        </p:nvSpPr>
        <p:spPr>
          <a:xfrm>
            <a:off x="1430242" y="5968282"/>
            <a:ext cx="463157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KARAGANDA TRAIN STATION / KAZAKHSTAN</a:t>
            </a:r>
          </a:p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(10 UNITS)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그림 2" descr="야외, 하늘, 구름, 부동산이(가) 표시된 사진">
            <a:extLst>
              <a:ext uri="{FF2B5EF4-FFF2-40B4-BE49-F238E27FC236}">
                <a16:creationId xmlns:a16="http://schemas.microsoft.com/office/drawing/2014/main" id="{DB1A84B2-5E9A-3F88-6C74-2ED390505C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493" y="2040964"/>
            <a:ext cx="7946533" cy="3816486"/>
          </a:xfrm>
          <a:prstGeom prst="rect">
            <a:avLst/>
          </a:prstGeom>
        </p:spPr>
      </p:pic>
      <p:sp>
        <p:nvSpPr>
          <p:cNvPr id="4" name="제목 3">
            <a:extLst>
              <a:ext uri="{FF2B5EF4-FFF2-40B4-BE49-F238E27FC236}">
                <a16:creationId xmlns:a16="http://schemas.microsoft.com/office/drawing/2014/main" id="{F276B87B-38FE-49EE-2718-860E8A16E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500" b="0" i="0" dirty="0">
                <a:solidFill>
                  <a:schemeClr val="bg1"/>
                </a:solidFill>
                <a:effectLst/>
                <a:latin typeface="Calibri"/>
                <a:ea typeface="+mj-ea"/>
                <a:cs typeface="Calibri"/>
              </a:rPr>
              <a:t>LGS Elevator Signature Projects</a:t>
            </a:r>
            <a:endParaRPr lang="ko-KR" altLang="en-US" dirty="0"/>
          </a:p>
        </p:txBody>
      </p:sp>
      <p:sp>
        <p:nvSpPr>
          <p:cNvPr id="6" name="제목 8">
            <a:extLst>
              <a:ext uri="{FF2B5EF4-FFF2-40B4-BE49-F238E27FC236}">
                <a16:creationId xmlns:a16="http://schemas.microsoft.com/office/drawing/2014/main" id="{D4A01314-F311-6332-8C41-7F046FC77DCC}"/>
              </a:ext>
            </a:extLst>
          </p:cNvPr>
          <p:cNvSpPr txBox="1">
            <a:spLocks/>
          </p:cNvSpPr>
          <p:nvPr/>
        </p:nvSpPr>
        <p:spPr>
          <a:xfrm>
            <a:off x="176686" y="809625"/>
            <a:ext cx="10536341" cy="475837"/>
          </a:xfrm>
          <a:prstGeom prst="rect">
            <a:avLst/>
          </a:prstGeom>
          <a:solidFill>
            <a:srgbClr val="E01F65"/>
          </a:solidFill>
        </p:spPr>
        <p:txBody>
          <a:bodyPr wrap="square" lIns="0" tIns="0" rIns="0" bIns="0">
            <a:noAutofit/>
          </a:bodyPr>
          <a:lstStyle>
            <a:lvl1pPr>
              <a:defRPr sz="3500" b="0" i="0">
                <a:solidFill>
                  <a:schemeClr val="bg1"/>
                </a:solidFill>
                <a:latin typeface="Calibri"/>
                <a:ea typeface="+mj-ea"/>
                <a:cs typeface="Calibri"/>
              </a:defRPr>
            </a:lvl1pPr>
          </a:lstStyle>
          <a:p>
            <a:pPr algn="l"/>
            <a:r>
              <a:rPr lang="en-US" altLang="ko-KR" sz="385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LGS Elevator Signature Projects</a:t>
            </a:r>
            <a:endParaRPr lang="ko-KR" altLang="en-US" sz="385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6409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내용 개체 틀 7" descr="대중 교통, 기차, 차량, 기차역이(가) 표시된 사진&#10;&#10;자동 생성된 설명">
            <a:extLst>
              <a:ext uri="{FF2B5EF4-FFF2-40B4-BE49-F238E27FC236}">
                <a16:creationId xmlns:a16="http://schemas.microsoft.com/office/drawing/2014/main" id="{1511E840-5E14-E438-065F-F1A6894AB1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493" y="2040963"/>
            <a:ext cx="7946533" cy="3816486"/>
          </a:xfr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F0076B52-364A-A7E3-4053-A18860F901BC}"/>
              </a:ext>
            </a:extLst>
          </p:cNvPr>
          <p:cNvSpPr txBox="1"/>
          <p:nvPr/>
        </p:nvSpPr>
        <p:spPr>
          <a:xfrm>
            <a:off x="1430242" y="5968282"/>
            <a:ext cx="51194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KSA TV TOWER / SAUDI ARABIA</a:t>
            </a:r>
          </a:p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(6 UNITS)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그림 2" descr="야외, 하늘, 구름, 부동산이(가) 표시된 사진">
            <a:extLst>
              <a:ext uri="{FF2B5EF4-FFF2-40B4-BE49-F238E27FC236}">
                <a16:creationId xmlns:a16="http://schemas.microsoft.com/office/drawing/2014/main" id="{DB1A84B2-5E9A-3F88-6C74-2ED390505C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493" y="2040964"/>
            <a:ext cx="7946533" cy="3816486"/>
          </a:xfrm>
          <a:prstGeom prst="rect">
            <a:avLst/>
          </a:prstGeom>
        </p:spPr>
      </p:pic>
      <p:pic>
        <p:nvPicPr>
          <p:cNvPr id="4" name="그림 3" descr="야외, 하늘, 구름, 건물이(가) 표시된 사진">
            <a:extLst>
              <a:ext uri="{FF2B5EF4-FFF2-40B4-BE49-F238E27FC236}">
                <a16:creationId xmlns:a16="http://schemas.microsoft.com/office/drawing/2014/main" id="{750ED2BD-81B0-D58C-281E-1C89046D96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493" y="2040962"/>
            <a:ext cx="7946533" cy="3816487"/>
          </a:xfrm>
          <a:prstGeom prst="rect">
            <a:avLst/>
          </a:prstGeom>
        </p:spPr>
      </p:pic>
      <p:pic>
        <p:nvPicPr>
          <p:cNvPr id="5" name="그림 4" descr="건물, 바닥재, 바닥, 계단이(가) 표시된 사진">
            <a:extLst>
              <a:ext uri="{FF2B5EF4-FFF2-40B4-BE49-F238E27FC236}">
                <a16:creationId xmlns:a16="http://schemas.microsoft.com/office/drawing/2014/main" id="{81C2DABD-AAFF-F42D-56E9-1989E96EED2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493" y="2040963"/>
            <a:ext cx="7946533" cy="3816486"/>
          </a:xfrm>
          <a:prstGeom prst="rect">
            <a:avLst/>
          </a:prstGeom>
        </p:spPr>
      </p:pic>
      <p:pic>
        <p:nvPicPr>
          <p:cNvPr id="6" name="그림 5" descr="야외, 건물, 나무, 하늘이(가) 표시된 사진&#10;&#10;자동 생성된 설명">
            <a:extLst>
              <a:ext uri="{FF2B5EF4-FFF2-40B4-BE49-F238E27FC236}">
                <a16:creationId xmlns:a16="http://schemas.microsoft.com/office/drawing/2014/main" id="{425F2DF9-33FA-2DC5-19E9-A4362A59224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493" y="2040962"/>
            <a:ext cx="7946533" cy="3816486"/>
          </a:xfrm>
          <a:prstGeom prst="rect">
            <a:avLst/>
          </a:prstGeom>
        </p:spPr>
      </p:pic>
      <p:sp>
        <p:nvSpPr>
          <p:cNvPr id="7" name="제목 6">
            <a:extLst>
              <a:ext uri="{FF2B5EF4-FFF2-40B4-BE49-F238E27FC236}">
                <a16:creationId xmlns:a16="http://schemas.microsoft.com/office/drawing/2014/main" id="{497DC1AA-D1FA-69BC-93A7-57ADA457F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500" b="0" i="0" dirty="0">
                <a:solidFill>
                  <a:schemeClr val="bg1"/>
                </a:solidFill>
                <a:effectLst/>
                <a:latin typeface="Calibri"/>
                <a:ea typeface="+mj-ea"/>
                <a:cs typeface="Calibri"/>
              </a:rPr>
              <a:t>LGS Elevator Signature Projects</a:t>
            </a:r>
            <a:endParaRPr lang="ko-KR" altLang="en-US" dirty="0"/>
          </a:p>
        </p:txBody>
      </p:sp>
      <p:sp>
        <p:nvSpPr>
          <p:cNvPr id="10" name="제목 8">
            <a:extLst>
              <a:ext uri="{FF2B5EF4-FFF2-40B4-BE49-F238E27FC236}">
                <a16:creationId xmlns:a16="http://schemas.microsoft.com/office/drawing/2014/main" id="{4EE59971-D123-C6FD-6548-DDAAF4639D62}"/>
              </a:ext>
            </a:extLst>
          </p:cNvPr>
          <p:cNvSpPr txBox="1">
            <a:spLocks/>
          </p:cNvSpPr>
          <p:nvPr/>
        </p:nvSpPr>
        <p:spPr>
          <a:xfrm>
            <a:off x="176686" y="809625"/>
            <a:ext cx="10536341" cy="475837"/>
          </a:xfrm>
          <a:prstGeom prst="rect">
            <a:avLst/>
          </a:prstGeom>
          <a:solidFill>
            <a:srgbClr val="E01F65"/>
          </a:solidFill>
        </p:spPr>
        <p:txBody>
          <a:bodyPr wrap="square" lIns="0" tIns="0" rIns="0" bIns="0">
            <a:noAutofit/>
          </a:bodyPr>
          <a:lstStyle>
            <a:lvl1pPr>
              <a:defRPr sz="3500" b="0" i="0">
                <a:solidFill>
                  <a:schemeClr val="bg1"/>
                </a:solidFill>
                <a:latin typeface="Calibri"/>
                <a:ea typeface="+mj-ea"/>
                <a:cs typeface="Calibri"/>
              </a:defRPr>
            </a:lvl1pPr>
          </a:lstStyle>
          <a:p>
            <a:pPr algn="l"/>
            <a:r>
              <a:rPr lang="en-US" altLang="ko-KR" sz="385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LGS Elevator Signature Projects</a:t>
            </a:r>
            <a:endParaRPr lang="ko-KR" altLang="en-US" sz="385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그림 8" descr="하늘, 야외, 건물, 나무이(가) 표시된 사진">
            <a:extLst>
              <a:ext uri="{FF2B5EF4-FFF2-40B4-BE49-F238E27FC236}">
                <a16:creationId xmlns:a16="http://schemas.microsoft.com/office/drawing/2014/main" id="{C22D4331-87E4-4497-8A5C-1FF07F4634A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493" y="2040962"/>
            <a:ext cx="7946534" cy="3816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3950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내용 개체 틀 7" descr="대중 교통, 기차, 차량, 기차역이(가) 표시된 사진&#10;&#10;자동 생성된 설명">
            <a:extLst>
              <a:ext uri="{FF2B5EF4-FFF2-40B4-BE49-F238E27FC236}">
                <a16:creationId xmlns:a16="http://schemas.microsoft.com/office/drawing/2014/main" id="{1511E840-5E14-E438-065F-F1A6894AB1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493" y="2040963"/>
            <a:ext cx="7946533" cy="3816486"/>
          </a:xfr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F0076B52-364A-A7E3-4053-A18860F901BC}"/>
              </a:ext>
            </a:extLst>
          </p:cNvPr>
          <p:cNvSpPr txBox="1"/>
          <p:nvPr/>
        </p:nvSpPr>
        <p:spPr>
          <a:xfrm>
            <a:off x="1430242" y="5968282"/>
            <a:ext cx="54670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ACADEMY OF PULIC ADMINISTRATION / KAZAKHSTAN</a:t>
            </a:r>
          </a:p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(4 UNITS)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그림 2" descr="야외, 하늘, 구름, 부동산이(가) 표시된 사진">
            <a:extLst>
              <a:ext uri="{FF2B5EF4-FFF2-40B4-BE49-F238E27FC236}">
                <a16:creationId xmlns:a16="http://schemas.microsoft.com/office/drawing/2014/main" id="{DB1A84B2-5E9A-3F88-6C74-2ED390505C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493" y="2040964"/>
            <a:ext cx="7946533" cy="3816486"/>
          </a:xfrm>
          <a:prstGeom prst="rect">
            <a:avLst/>
          </a:prstGeom>
        </p:spPr>
      </p:pic>
      <p:pic>
        <p:nvPicPr>
          <p:cNvPr id="4" name="그림 3" descr="야외, 하늘, 구름, 건물이(가) 표시된 사진">
            <a:extLst>
              <a:ext uri="{FF2B5EF4-FFF2-40B4-BE49-F238E27FC236}">
                <a16:creationId xmlns:a16="http://schemas.microsoft.com/office/drawing/2014/main" id="{750ED2BD-81B0-D58C-281E-1C89046D96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493" y="2040962"/>
            <a:ext cx="7946533" cy="3816487"/>
          </a:xfrm>
          <a:prstGeom prst="rect">
            <a:avLst/>
          </a:prstGeom>
        </p:spPr>
      </p:pic>
      <p:sp>
        <p:nvSpPr>
          <p:cNvPr id="5" name="제목 4">
            <a:extLst>
              <a:ext uri="{FF2B5EF4-FFF2-40B4-BE49-F238E27FC236}">
                <a16:creationId xmlns:a16="http://schemas.microsoft.com/office/drawing/2014/main" id="{4B4C7825-098B-57C2-705D-8AC201FC6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500" b="0" i="0" dirty="0">
                <a:solidFill>
                  <a:schemeClr val="bg1"/>
                </a:solidFill>
                <a:effectLst/>
                <a:latin typeface="Calibri"/>
                <a:ea typeface="+mj-ea"/>
                <a:cs typeface="Calibri"/>
              </a:rPr>
              <a:t>LGS Elevator Signature Projects</a:t>
            </a:r>
            <a:endParaRPr lang="ko-KR" altLang="en-US" dirty="0"/>
          </a:p>
        </p:txBody>
      </p:sp>
      <p:sp>
        <p:nvSpPr>
          <p:cNvPr id="7" name="제목 8">
            <a:extLst>
              <a:ext uri="{FF2B5EF4-FFF2-40B4-BE49-F238E27FC236}">
                <a16:creationId xmlns:a16="http://schemas.microsoft.com/office/drawing/2014/main" id="{D9F31557-F9EC-7843-CCB9-C3EE149DFD6F}"/>
              </a:ext>
            </a:extLst>
          </p:cNvPr>
          <p:cNvSpPr txBox="1">
            <a:spLocks/>
          </p:cNvSpPr>
          <p:nvPr/>
        </p:nvSpPr>
        <p:spPr>
          <a:xfrm>
            <a:off x="176686" y="809625"/>
            <a:ext cx="10536341" cy="475837"/>
          </a:xfrm>
          <a:prstGeom prst="rect">
            <a:avLst/>
          </a:prstGeom>
          <a:solidFill>
            <a:srgbClr val="E01F65"/>
          </a:solidFill>
        </p:spPr>
        <p:txBody>
          <a:bodyPr wrap="square" lIns="0" tIns="0" rIns="0" bIns="0">
            <a:noAutofit/>
          </a:bodyPr>
          <a:lstStyle>
            <a:lvl1pPr>
              <a:defRPr sz="3500" b="0" i="0">
                <a:solidFill>
                  <a:schemeClr val="bg1"/>
                </a:solidFill>
                <a:latin typeface="Calibri"/>
                <a:ea typeface="+mj-ea"/>
                <a:cs typeface="Calibri"/>
              </a:defRPr>
            </a:lvl1pPr>
          </a:lstStyle>
          <a:p>
            <a:pPr algn="l"/>
            <a:r>
              <a:rPr lang="en-US" altLang="ko-KR" sz="385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LGS Elevator Signature Projects</a:t>
            </a:r>
            <a:endParaRPr lang="ko-KR" altLang="en-US" sz="385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67114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내용 개체 틀 7" descr="대중 교통, 기차, 차량, 기차역이(가) 표시된 사진&#10;&#10;자동 생성된 설명">
            <a:extLst>
              <a:ext uri="{FF2B5EF4-FFF2-40B4-BE49-F238E27FC236}">
                <a16:creationId xmlns:a16="http://schemas.microsoft.com/office/drawing/2014/main" id="{1511E840-5E14-E438-065F-F1A6894AB1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493" y="2040963"/>
            <a:ext cx="7946533" cy="3816486"/>
          </a:xfr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F0076B52-364A-A7E3-4053-A18860F901BC}"/>
              </a:ext>
            </a:extLst>
          </p:cNvPr>
          <p:cNvSpPr txBox="1"/>
          <p:nvPr/>
        </p:nvSpPr>
        <p:spPr>
          <a:xfrm>
            <a:off x="1430242" y="5968282"/>
            <a:ext cx="46315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AIRBELL HELIANTHUS / BANGLADESH</a:t>
            </a:r>
          </a:p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(4 UNITS)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그림 2" descr="야외, 하늘, 구름, 부동산이(가) 표시된 사진">
            <a:extLst>
              <a:ext uri="{FF2B5EF4-FFF2-40B4-BE49-F238E27FC236}">
                <a16:creationId xmlns:a16="http://schemas.microsoft.com/office/drawing/2014/main" id="{DB1A84B2-5E9A-3F88-6C74-2ED390505C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493" y="2040964"/>
            <a:ext cx="7946533" cy="3816486"/>
          </a:xfrm>
          <a:prstGeom prst="rect">
            <a:avLst/>
          </a:prstGeom>
        </p:spPr>
      </p:pic>
      <p:pic>
        <p:nvPicPr>
          <p:cNvPr id="4" name="그림 3" descr="야외, 하늘, 구름, 건물이(가) 표시된 사진">
            <a:extLst>
              <a:ext uri="{FF2B5EF4-FFF2-40B4-BE49-F238E27FC236}">
                <a16:creationId xmlns:a16="http://schemas.microsoft.com/office/drawing/2014/main" id="{750ED2BD-81B0-D58C-281E-1C89046D96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493" y="2040962"/>
            <a:ext cx="7946533" cy="3816487"/>
          </a:xfrm>
          <a:prstGeom prst="rect">
            <a:avLst/>
          </a:prstGeom>
        </p:spPr>
      </p:pic>
      <p:pic>
        <p:nvPicPr>
          <p:cNvPr id="5" name="그림 4" descr="건물, 바닥재, 바닥, 계단이(가) 표시된 사진">
            <a:extLst>
              <a:ext uri="{FF2B5EF4-FFF2-40B4-BE49-F238E27FC236}">
                <a16:creationId xmlns:a16="http://schemas.microsoft.com/office/drawing/2014/main" id="{81C2DABD-AAFF-F42D-56E9-1989E96EED2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493" y="2040963"/>
            <a:ext cx="7946533" cy="3816486"/>
          </a:xfrm>
          <a:prstGeom prst="rect">
            <a:avLst/>
          </a:prstGeom>
        </p:spPr>
      </p:pic>
      <p:sp>
        <p:nvSpPr>
          <p:cNvPr id="6" name="제목 5">
            <a:extLst>
              <a:ext uri="{FF2B5EF4-FFF2-40B4-BE49-F238E27FC236}">
                <a16:creationId xmlns:a16="http://schemas.microsoft.com/office/drawing/2014/main" id="{F3092719-3887-1AC4-599C-BCF5E2D65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500" b="0" i="0" dirty="0">
                <a:solidFill>
                  <a:schemeClr val="bg1"/>
                </a:solidFill>
                <a:effectLst/>
                <a:latin typeface="Calibri"/>
                <a:ea typeface="+mj-ea"/>
                <a:cs typeface="Calibri"/>
              </a:rPr>
              <a:t>LGS Elevator Signature Projects</a:t>
            </a:r>
            <a:endParaRPr lang="ko-KR" altLang="en-US" dirty="0"/>
          </a:p>
        </p:txBody>
      </p:sp>
      <p:sp>
        <p:nvSpPr>
          <p:cNvPr id="9" name="제목 8">
            <a:extLst>
              <a:ext uri="{FF2B5EF4-FFF2-40B4-BE49-F238E27FC236}">
                <a16:creationId xmlns:a16="http://schemas.microsoft.com/office/drawing/2014/main" id="{B59B28A2-C5DC-E645-CBE5-DB1C2C37A612}"/>
              </a:ext>
            </a:extLst>
          </p:cNvPr>
          <p:cNvSpPr txBox="1">
            <a:spLocks/>
          </p:cNvSpPr>
          <p:nvPr/>
        </p:nvSpPr>
        <p:spPr>
          <a:xfrm>
            <a:off x="176686" y="809625"/>
            <a:ext cx="10536341" cy="475837"/>
          </a:xfrm>
          <a:prstGeom prst="rect">
            <a:avLst/>
          </a:prstGeom>
          <a:solidFill>
            <a:srgbClr val="E01F65"/>
          </a:solidFill>
        </p:spPr>
        <p:txBody>
          <a:bodyPr wrap="square" lIns="0" tIns="0" rIns="0" bIns="0">
            <a:noAutofit/>
          </a:bodyPr>
          <a:lstStyle>
            <a:lvl1pPr>
              <a:defRPr sz="3500" b="0" i="0">
                <a:solidFill>
                  <a:schemeClr val="bg1"/>
                </a:solidFill>
                <a:latin typeface="Calibri"/>
                <a:ea typeface="+mj-ea"/>
                <a:cs typeface="Calibri"/>
              </a:defRPr>
            </a:lvl1pPr>
          </a:lstStyle>
          <a:p>
            <a:pPr algn="l"/>
            <a:r>
              <a:rPr lang="en-US" altLang="ko-KR" sz="385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LGS Elevator Signature Projects</a:t>
            </a:r>
            <a:endParaRPr lang="ko-KR" altLang="en-US" sz="385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206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내용 개체 틀 7" descr="대중 교통, 기차, 차량, 기차역이(가) 표시된 사진&#10;&#10;자동 생성된 설명">
            <a:extLst>
              <a:ext uri="{FF2B5EF4-FFF2-40B4-BE49-F238E27FC236}">
                <a16:creationId xmlns:a16="http://schemas.microsoft.com/office/drawing/2014/main" id="{1511E840-5E14-E438-065F-F1A6894AB1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493" y="2040963"/>
            <a:ext cx="7946533" cy="3816486"/>
          </a:xfr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F0076B52-364A-A7E3-4053-A18860F901BC}"/>
              </a:ext>
            </a:extLst>
          </p:cNvPr>
          <p:cNvSpPr txBox="1"/>
          <p:nvPr/>
        </p:nvSpPr>
        <p:spPr>
          <a:xfrm>
            <a:off x="1430242" y="5968282"/>
            <a:ext cx="51194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BEXIMCO PHARMACEUTICALS LTD / BANGLADESH</a:t>
            </a:r>
          </a:p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(4 UNITS)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그림 2" descr="야외, 하늘, 구름, 부동산이(가) 표시된 사진">
            <a:extLst>
              <a:ext uri="{FF2B5EF4-FFF2-40B4-BE49-F238E27FC236}">
                <a16:creationId xmlns:a16="http://schemas.microsoft.com/office/drawing/2014/main" id="{DB1A84B2-5E9A-3F88-6C74-2ED390505C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493" y="2040964"/>
            <a:ext cx="7946533" cy="3816486"/>
          </a:xfrm>
          <a:prstGeom prst="rect">
            <a:avLst/>
          </a:prstGeom>
        </p:spPr>
      </p:pic>
      <p:pic>
        <p:nvPicPr>
          <p:cNvPr id="4" name="그림 3" descr="야외, 하늘, 구름, 건물이(가) 표시된 사진">
            <a:extLst>
              <a:ext uri="{FF2B5EF4-FFF2-40B4-BE49-F238E27FC236}">
                <a16:creationId xmlns:a16="http://schemas.microsoft.com/office/drawing/2014/main" id="{750ED2BD-81B0-D58C-281E-1C89046D96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493" y="2040962"/>
            <a:ext cx="7946533" cy="3816487"/>
          </a:xfrm>
          <a:prstGeom prst="rect">
            <a:avLst/>
          </a:prstGeom>
        </p:spPr>
      </p:pic>
      <p:pic>
        <p:nvPicPr>
          <p:cNvPr id="5" name="그림 4" descr="건물, 바닥재, 바닥, 계단이(가) 표시된 사진">
            <a:extLst>
              <a:ext uri="{FF2B5EF4-FFF2-40B4-BE49-F238E27FC236}">
                <a16:creationId xmlns:a16="http://schemas.microsoft.com/office/drawing/2014/main" id="{81C2DABD-AAFF-F42D-56E9-1989E96EED2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493" y="2040963"/>
            <a:ext cx="7946533" cy="3816486"/>
          </a:xfrm>
          <a:prstGeom prst="rect">
            <a:avLst/>
          </a:prstGeom>
        </p:spPr>
      </p:pic>
      <p:pic>
        <p:nvPicPr>
          <p:cNvPr id="6" name="그림 5" descr="야외, 건물, 나무, 하늘이(가) 표시된 사진&#10;&#10;자동 생성된 설명">
            <a:extLst>
              <a:ext uri="{FF2B5EF4-FFF2-40B4-BE49-F238E27FC236}">
                <a16:creationId xmlns:a16="http://schemas.microsoft.com/office/drawing/2014/main" id="{425F2DF9-33FA-2DC5-19E9-A4362A59224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493" y="2040962"/>
            <a:ext cx="7946533" cy="3816486"/>
          </a:xfrm>
          <a:prstGeom prst="rect">
            <a:avLst/>
          </a:prstGeom>
        </p:spPr>
      </p:pic>
      <p:sp>
        <p:nvSpPr>
          <p:cNvPr id="7" name="제목 6">
            <a:extLst>
              <a:ext uri="{FF2B5EF4-FFF2-40B4-BE49-F238E27FC236}">
                <a16:creationId xmlns:a16="http://schemas.microsoft.com/office/drawing/2014/main" id="{497DC1AA-D1FA-69BC-93A7-57ADA457F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500" b="0" i="0" dirty="0">
                <a:solidFill>
                  <a:schemeClr val="bg1"/>
                </a:solidFill>
                <a:effectLst/>
                <a:latin typeface="Calibri"/>
                <a:ea typeface="+mj-ea"/>
                <a:cs typeface="Calibri"/>
              </a:rPr>
              <a:t>LGS Elevator Signature Projects</a:t>
            </a:r>
            <a:endParaRPr lang="ko-KR" altLang="en-US" dirty="0"/>
          </a:p>
        </p:txBody>
      </p:sp>
      <p:sp>
        <p:nvSpPr>
          <p:cNvPr id="10" name="제목 8">
            <a:extLst>
              <a:ext uri="{FF2B5EF4-FFF2-40B4-BE49-F238E27FC236}">
                <a16:creationId xmlns:a16="http://schemas.microsoft.com/office/drawing/2014/main" id="{4EE59971-D123-C6FD-6548-DDAAF4639D62}"/>
              </a:ext>
            </a:extLst>
          </p:cNvPr>
          <p:cNvSpPr txBox="1">
            <a:spLocks/>
          </p:cNvSpPr>
          <p:nvPr/>
        </p:nvSpPr>
        <p:spPr>
          <a:xfrm>
            <a:off x="176686" y="809625"/>
            <a:ext cx="10536341" cy="475837"/>
          </a:xfrm>
          <a:prstGeom prst="rect">
            <a:avLst/>
          </a:prstGeom>
          <a:solidFill>
            <a:srgbClr val="E01F65"/>
          </a:solidFill>
        </p:spPr>
        <p:txBody>
          <a:bodyPr wrap="square" lIns="0" tIns="0" rIns="0" bIns="0">
            <a:noAutofit/>
          </a:bodyPr>
          <a:lstStyle>
            <a:lvl1pPr>
              <a:defRPr sz="3500" b="0" i="0">
                <a:solidFill>
                  <a:schemeClr val="bg1"/>
                </a:solidFill>
                <a:latin typeface="Calibri"/>
                <a:ea typeface="+mj-ea"/>
                <a:cs typeface="Calibri"/>
              </a:defRPr>
            </a:lvl1pPr>
          </a:lstStyle>
          <a:p>
            <a:pPr algn="l"/>
            <a:r>
              <a:rPr lang="en-US" altLang="ko-KR" sz="385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LGS Elevator Signature Projects</a:t>
            </a:r>
            <a:endParaRPr lang="ko-KR" altLang="en-US" sz="385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34511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52472" y="1825752"/>
            <a:ext cx="6018275" cy="448055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3850" dirty="0"/>
              <a:t>LGS</a:t>
            </a:r>
            <a:r>
              <a:rPr sz="3850" spc="-195" dirty="0"/>
              <a:t> </a:t>
            </a:r>
            <a:r>
              <a:rPr sz="3850" spc="-10" dirty="0"/>
              <a:t>Elevator</a:t>
            </a:r>
            <a:r>
              <a:rPr sz="3850" spc="-155" dirty="0"/>
              <a:t> </a:t>
            </a:r>
            <a:r>
              <a:rPr sz="3850" dirty="0"/>
              <a:t>Signature</a:t>
            </a:r>
            <a:r>
              <a:rPr sz="3850" spc="-155" dirty="0"/>
              <a:t> </a:t>
            </a:r>
            <a:r>
              <a:rPr sz="3850" spc="-10" dirty="0"/>
              <a:t>Projects</a:t>
            </a:r>
            <a:endParaRPr sz="3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65248" y="1760220"/>
            <a:ext cx="5710427" cy="449732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3850" dirty="0"/>
              <a:t>LGS</a:t>
            </a:r>
            <a:r>
              <a:rPr sz="3850" spc="-195" dirty="0"/>
              <a:t> </a:t>
            </a:r>
            <a:r>
              <a:rPr sz="3850" spc="-10" dirty="0"/>
              <a:t>Elevator</a:t>
            </a:r>
            <a:r>
              <a:rPr sz="3850" spc="-155" dirty="0"/>
              <a:t> </a:t>
            </a:r>
            <a:r>
              <a:rPr sz="3850" dirty="0"/>
              <a:t>Signature</a:t>
            </a:r>
            <a:r>
              <a:rPr sz="3850" spc="-155" dirty="0"/>
              <a:t> </a:t>
            </a:r>
            <a:r>
              <a:rPr sz="3850" spc="-10" dirty="0"/>
              <a:t>Projects</a:t>
            </a:r>
            <a:endParaRPr sz="385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99A854-7772-0696-92FE-ED934A9D3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>
            <a:extLst>
              <a:ext uri="{FF2B5EF4-FFF2-40B4-BE49-F238E27FC236}">
                <a16:creationId xmlns:a16="http://schemas.microsoft.com/office/drawing/2014/main" id="{137EEF7F-41BC-D36E-BBDB-3AF335D429BD}"/>
              </a:ext>
            </a:extLst>
          </p:cNvPr>
          <p:cNvSpPr txBox="1"/>
          <p:nvPr/>
        </p:nvSpPr>
        <p:spPr>
          <a:xfrm>
            <a:off x="1023588" y="1644467"/>
            <a:ext cx="3886200" cy="48320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12420" marR="5080" indent="-300355" algn="ctr">
              <a:lnSpc>
                <a:spcPct val="102000"/>
              </a:lnSpc>
              <a:spcBef>
                <a:spcPts val="95"/>
              </a:spcBef>
              <a:buFont typeface="Wingdings"/>
              <a:buChar char=""/>
              <a:tabLst>
                <a:tab pos="489584" algn="l"/>
              </a:tabLst>
            </a:pPr>
            <a:r>
              <a:rPr sz="1550" b="1" dirty="0">
                <a:latin typeface="Arial"/>
                <a:cs typeface="Arial"/>
              </a:rPr>
              <a:t>Elevator</a:t>
            </a:r>
            <a:r>
              <a:rPr sz="1550" b="1" spc="45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system</a:t>
            </a:r>
            <a:r>
              <a:rPr sz="1550" b="1" spc="35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CE</a:t>
            </a:r>
            <a:r>
              <a:rPr sz="1550" b="1" spc="-5" dirty="0">
                <a:latin typeface="Arial"/>
                <a:cs typeface="Arial"/>
              </a:rPr>
              <a:t> </a:t>
            </a:r>
            <a:r>
              <a:rPr sz="1550" b="1" spc="-10" dirty="0">
                <a:latin typeface="Arial"/>
                <a:cs typeface="Arial"/>
              </a:rPr>
              <a:t>Certificate 	</a:t>
            </a:r>
            <a:r>
              <a:rPr sz="1550" b="1" dirty="0">
                <a:latin typeface="Arial"/>
                <a:cs typeface="Arial"/>
              </a:rPr>
              <a:t>(</a:t>
            </a:r>
            <a:r>
              <a:rPr lang="en-US" sz="1550" b="1" dirty="0">
                <a:latin typeface="Arial"/>
                <a:cs typeface="Arial"/>
              </a:rPr>
              <a:t>European</a:t>
            </a:r>
            <a:r>
              <a:rPr lang="ko-KR" altLang="en-US" sz="1550" b="1" spc="10" dirty="0">
                <a:latin typeface="Arial"/>
                <a:cs typeface="Arial"/>
              </a:rPr>
              <a:t> </a:t>
            </a:r>
            <a:r>
              <a:rPr lang="en-US" sz="1550" b="1" spc="-10" dirty="0">
                <a:latin typeface="Arial"/>
                <a:cs typeface="Arial"/>
              </a:rPr>
              <a:t>Certification MMR_LGK</a:t>
            </a:r>
            <a:r>
              <a:rPr sz="1550" b="1" spc="-10" dirty="0">
                <a:latin typeface="Arial"/>
                <a:cs typeface="Arial"/>
              </a:rPr>
              <a:t>)</a:t>
            </a:r>
            <a:endParaRPr sz="1550" dirty="0">
              <a:latin typeface="Arial"/>
              <a:cs typeface="Arial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19E59741-A256-B603-E0EB-949AD48B7FAA}"/>
              </a:ext>
            </a:extLst>
          </p:cNvPr>
          <p:cNvSpPr/>
          <p:nvPr/>
        </p:nvSpPr>
        <p:spPr>
          <a:xfrm>
            <a:off x="1872995" y="2284476"/>
            <a:ext cx="2646045" cy="3987165"/>
          </a:xfrm>
          <a:custGeom>
            <a:avLst/>
            <a:gdLst/>
            <a:ahLst/>
            <a:cxnLst/>
            <a:rect l="l" t="t" r="r" b="b"/>
            <a:pathLst>
              <a:path w="2646045" h="3987165">
                <a:moveTo>
                  <a:pt x="0" y="3986784"/>
                </a:moveTo>
                <a:lnTo>
                  <a:pt x="2645664" y="3986784"/>
                </a:lnTo>
                <a:lnTo>
                  <a:pt x="2645664" y="0"/>
                </a:lnTo>
                <a:lnTo>
                  <a:pt x="0" y="0"/>
                </a:lnTo>
                <a:lnTo>
                  <a:pt x="0" y="3986784"/>
                </a:lnTo>
                <a:close/>
              </a:path>
            </a:pathLst>
          </a:custGeom>
          <a:ln w="10668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C41599E0-4183-4E69-6C39-C95B82F1074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0"/>
              </a:spcBef>
            </a:pPr>
            <a:r>
              <a:rPr spc="-100" dirty="0"/>
              <a:t>LGS</a:t>
            </a:r>
            <a:r>
              <a:rPr spc="-195" dirty="0"/>
              <a:t> </a:t>
            </a:r>
            <a:r>
              <a:rPr spc="-110" dirty="0"/>
              <a:t>Elevators’</a:t>
            </a:r>
            <a:r>
              <a:rPr spc="-190" dirty="0"/>
              <a:t> </a:t>
            </a:r>
            <a:r>
              <a:rPr spc="-70" dirty="0"/>
              <a:t>Certificates</a:t>
            </a:r>
          </a:p>
        </p:txBody>
      </p:sp>
      <p:pic>
        <p:nvPicPr>
          <p:cNvPr id="7" name="그림 6" descr="텍스트, 스크린샷, 폰트, 원이(가) 표시된 사진&#10;&#10;자동 생성된 설명">
            <a:extLst>
              <a:ext uri="{FF2B5EF4-FFF2-40B4-BE49-F238E27FC236}">
                <a16:creationId xmlns:a16="http://schemas.microsoft.com/office/drawing/2014/main" id="{CD7CE76F-C6B8-56F0-BCCA-8DBE13F992E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7701" y="2309242"/>
            <a:ext cx="2514600" cy="3910584"/>
          </a:xfrm>
          <a:prstGeom prst="rect">
            <a:avLst/>
          </a:prstGeom>
        </p:spPr>
      </p:pic>
      <p:sp>
        <p:nvSpPr>
          <p:cNvPr id="11" name="object 5">
            <a:extLst>
              <a:ext uri="{FF2B5EF4-FFF2-40B4-BE49-F238E27FC236}">
                <a16:creationId xmlns:a16="http://schemas.microsoft.com/office/drawing/2014/main" id="{6BB17BB5-3041-FD1B-0B40-5D9FABC7ADF4}"/>
              </a:ext>
            </a:extLst>
          </p:cNvPr>
          <p:cNvSpPr txBox="1"/>
          <p:nvPr/>
        </p:nvSpPr>
        <p:spPr>
          <a:xfrm>
            <a:off x="5575300" y="1644467"/>
            <a:ext cx="3982083" cy="48320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12420" marR="5080" indent="-300355" algn="ctr">
              <a:lnSpc>
                <a:spcPct val="102000"/>
              </a:lnSpc>
              <a:spcBef>
                <a:spcPts val="95"/>
              </a:spcBef>
              <a:buFont typeface="Wingdings"/>
              <a:buChar char=""/>
              <a:tabLst>
                <a:tab pos="489584" algn="l"/>
              </a:tabLst>
            </a:pPr>
            <a:r>
              <a:rPr sz="1550" b="1" dirty="0">
                <a:latin typeface="Arial"/>
                <a:cs typeface="Arial"/>
              </a:rPr>
              <a:t>Elevator</a:t>
            </a:r>
            <a:r>
              <a:rPr sz="1550" b="1" spc="45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system</a:t>
            </a:r>
            <a:r>
              <a:rPr sz="1550" b="1" spc="35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CE</a:t>
            </a:r>
            <a:r>
              <a:rPr sz="1550" b="1" spc="-5" dirty="0">
                <a:latin typeface="Arial"/>
                <a:cs typeface="Arial"/>
              </a:rPr>
              <a:t> </a:t>
            </a:r>
            <a:r>
              <a:rPr sz="1550" b="1" spc="-10" dirty="0">
                <a:latin typeface="Arial"/>
                <a:cs typeface="Arial"/>
              </a:rPr>
              <a:t>Certificate 	</a:t>
            </a:r>
            <a:r>
              <a:rPr sz="1550" b="1" dirty="0">
                <a:latin typeface="Arial"/>
                <a:cs typeface="Arial"/>
              </a:rPr>
              <a:t>(</a:t>
            </a:r>
            <a:r>
              <a:rPr lang="en-US" sz="1550" b="1" dirty="0">
                <a:latin typeface="Arial"/>
                <a:cs typeface="Arial"/>
              </a:rPr>
              <a:t>European</a:t>
            </a:r>
            <a:r>
              <a:rPr lang="ko-KR" altLang="en-US" sz="1550" b="1" spc="10" dirty="0">
                <a:latin typeface="Arial"/>
                <a:cs typeface="Arial"/>
              </a:rPr>
              <a:t> </a:t>
            </a:r>
            <a:r>
              <a:rPr lang="en-US" sz="1550" b="1" spc="-10" dirty="0">
                <a:latin typeface="Arial"/>
                <a:cs typeface="Arial"/>
              </a:rPr>
              <a:t>Certification MRL_LGL</a:t>
            </a:r>
            <a:r>
              <a:rPr sz="1550" b="1" spc="-10" dirty="0">
                <a:latin typeface="Arial"/>
                <a:cs typeface="Arial"/>
              </a:rPr>
              <a:t>)</a:t>
            </a:r>
            <a:endParaRPr sz="1550" dirty="0">
              <a:latin typeface="Arial"/>
              <a:cs typeface="Arial"/>
            </a:endParaRPr>
          </a:p>
        </p:txBody>
      </p:sp>
      <p:sp>
        <p:nvSpPr>
          <p:cNvPr id="12" name="object 8">
            <a:extLst>
              <a:ext uri="{FF2B5EF4-FFF2-40B4-BE49-F238E27FC236}">
                <a16:creationId xmlns:a16="http://schemas.microsoft.com/office/drawing/2014/main" id="{0E157136-178D-EF0F-CCE5-9C0668B3B30D}"/>
              </a:ext>
            </a:extLst>
          </p:cNvPr>
          <p:cNvSpPr/>
          <p:nvPr/>
        </p:nvSpPr>
        <p:spPr>
          <a:xfrm>
            <a:off x="6451633" y="2348398"/>
            <a:ext cx="2646045" cy="3987165"/>
          </a:xfrm>
          <a:custGeom>
            <a:avLst/>
            <a:gdLst/>
            <a:ahLst/>
            <a:cxnLst/>
            <a:rect l="l" t="t" r="r" b="b"/>
            <a:pathLst>
              <a:path w="2646045" h="3987165">
                <a:moveTo>
                  <a:pt x="0" y="3986784"/>
                </a:moveTo>
                <a:lnTo>
                  <a:pt x="2645664" y="3986784"/>
                </a:lnTo>
                <a:lnTo>
                  <a:pt x="2645664" y="0"/>
                </a:lnTo>
                <a:lnTo>
                  <a:pt x="0" y="0"/>
                </a:lnTo>
                <a:lnTo>
                  <a:pt x="0" y="3986784"/>
                </a:lnTo>
                <a:close/>
              </a:path>
            </a:pathLst>
          </a:custGeom>
          <a:ln w="10668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2" name="그림 21" descr="텍스트, 스크린샷, 원, 폰트이(가) 표시된 사진&#10;&#10;자동 생성된 설명">
            <a:extLst>
              <a:ext uri="{FF2B5EF4-FFF2-40B4-BE49-F238E27FC236}">
                <a16:creationId xmlns:a16="http://schemas.microsoft.com/office/drawing/2014/main" id="{FC6CC097-9734-C97B-0312-53AFC1F9579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2571" y="2361582"/>
            <a:ext cx="2544167" cy="3904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66761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2583" y="1674901"/>
            <a:ext cx="3453382" cy="471301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48884" y="1768616"/>
            <a:ext cx="3445487" cy="461929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192566" y="1418361"/>
            <a:ext cx="1327785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3690" indent="-300990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313690" algn="l"/>
              </a:tabLst>
            </a:pPr>
            <a:r>
              <a:rPr sz="1750" b="1" spc="-10" dirty="0">
                <a:latin typeface="Arial"/>
                <a:cs typeface="Arial"/>
              </a:rPr>
              <a:t>ISO14001</a:t>
            </a:r>
            <a:endParaRPr sz="17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860556" y="1418361"/>
            <a:ext cx="1203325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3690" indent="-300990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313690" algn="l"/>
              </a:tabLst>
            </a:pPr>
            <a:r>
              <a:rPr sz="1750" b="1" spc="-10" dirty="0">
                <a:latin typeface="Arial"/>
                <a:cs typeface="Arial"/>
              </a:rPr>
              <a:t>ISO9001</a:t>
            </a:r>
            <a:endParaRPr sz="175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0"/>
              </a:spcBef>
            </a:pPr>
            <a:r>
              <a:rPr spc="-100" dirty="0"/>
              <a:t>LGS</a:t>
            </a:r>
            <a:r>
              <a:rPr spc="-195" dirty="0"/>
              <a:t> </a:t>
            </a:r>
            <a:r>
              <a:rPr spc="-110" dirty="0"/>
              <a:t>Elevators’</a:t>
            </a:r>
            <a:r>
              <a:rPr spc="-190" dirty="0"/>
              <a:t> </a:t>
            </a:r>
            <a:r>
              <a:rPr spc="-70" dirty="0"/>
              <a:t>Certificates</a:t>
            </a:r>
          </a:p>
        </p:txBody>
      </p:sp>
      <p:sp>
        <p:nvSpPr>
          <p:cNvPr id="7" name="object 8">
            <a:extLst>
              <a:ext uri="{FF2B5EF4-FFF2-40B4-BE49-F238E27FC236}">
                <a16:creationId xmlns:a16="http://schemas.microsoft.com/office/drawing/2014/main" id="{3F0DDB60-B43F-8682-E2B4-360FF16AAB6A}"/>
              </a:ext>
            </a:extLst>
          </p:cNvPr>
          <p:cNvSpPr/>
          <p:nvPr/>
        </p:nvSpPr>
        <p:spPr>
          <a:xfrm>
            <a:off x="774701" y="1711096"/>
            <a:ext cx="3581399" cy="4676819"/>
          </a:xfrm>
          <a:custGeom>
            <a:avLst/>
            <a:gdLst/>
            <a:ahLst/>
            <a:cxnLst/>
            <a:rect l="l" t="t" r="r" b="b"/>
            <a:pathLst>
              <a:path w="2646045" h="3987165">
                <a:moveTo>
                  <a:pt x="0" y="3986784"/>
                </a:moveTo>
                <a:lnTo>
                  <a:pt x="2645664" y="3986784"/>
                </a:lnTo>
                <a:lnTo>
                  <a:pt x="2645664" y="0"/>
                </a:lnTo>
                <a:lnTo>
                  <a:pt x="0" y="0"/>
                </a:lnTo>
                <a:lnTo>
                  <a:pt x="0" y="3986784"/>
                </a:lnTo>
                <a:close/>
              </a:path>
            </a:pathLst>
          </a:custGeom>
          <a:ln w="10668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6EEA955C-E784-E600-3675-C4CA544695F9}"/>
              </a:ext>
            </a:extLst>
          </p:cNvPr>
          <p:cNvSpPr/>
          <p:nvPr/>
        </p:nvSpPr>
        <p:spPr>
          <a:xfrm>
            <a:off x="5480928" y="1711095"/>
            <a:ext cx="3513444" cy="4676820"/>
          </a:xfrm>
          <a:custGeom>
            <a:avLst/>
            <a:gdLst/>
            <a:ahLst/>
            <a:cxnLst/>
            <a:rect l="l" t="t" r="r" b="b"/>
            <a:pathLst>
              <a:path w="2646045" h="3987165">
                <a:moveTo>
                  <a:pt x="0" y="3986784"/>
                </a:moveTo>
                <a:lnTo>
                  <a:pt x="2645664" y="3986784"/>
                </a:lnTo>
                <a:lnTo>
                  <a:pt x="2645664" y="0"/>
                </a:lnTo>
                <a:lnTo>
                  <a:pt x="0" y="0"/>
                </a:lnTo>
                <a:lnTo>
                  <a:pt x="0" y="3986784"/>
                </a:lnTo>
                <a:close/>
              </a:path>
            </a:pathLst>
          </a:custGeom>
          <a:ln w="10668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71838" y="1694205"/>
            <a:ext cx="3910965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3690" indent="-300990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313690" algn="l"/>
              </a:tabLst>
            </a:pPr>
            <a:r>
              <a:rPr sz="1750" b="1" spc="-10" dirty="0">
                <a:latin typeface="Arial"/>
                <a:cs typeface="Arial"/>
              </a:rPr>
              <a:t>Certification</a:t>
            </a:r>
            <a:r>
              <a:rPr sz="1750" b="1" spc="-75" dirty="0">
                <a:latin typeface="Arial"/>
                <a:cs typeface="Arial"/>
              </a:rPr>
              <a:t> </a:t>
            </a:r>
            <a:r>
              <a:rPr sz="1750" b="1" dirty="0">
                <a:latin typeface="Arial"/>
                <a:cs typeface="Arial"/>
              </a:rPr>
              <a:t>of</a:t>
            </a:r>
            <a:r>
              <a:rPr sz="1750" b="1" spc="-45" dirty="0">
                <a:latin typeface="Arial"/>
                <a:cs typeface="Arial"/>
              </a:rPr>
              <a:t> </a:t>
            </a:r>
            <a:r>
              <a:rPr sz="1750" b="1" spc="-30" dirty="0">
                <a:latin typeface="Arial"/>
                <a:cs typeface="Arial"/>
              </a:rPr>
              <a:t>Venture</a:t>
            </a:r>
            <a:r>
              <a:rPr sz="1750" b="1" spc="-50" dirty="0">
                <a:latin typeface="Arial"/>
                <a:cs typeface="Arial"/>
              </a:rPr>
              <a:t> </a:t>
            </a:r>
            <a:r>
              <a:rPr sz="1750" b="1" spc="-10" dirty="0">
                <a:latin typeface="Arial"/>
                <a:cs typeface="Arial"/>
              </a:rPr>
              <a:t>Enterprise</a:t>
            </a:r>
            <a:endParaRPr sz="17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731218" y="1729189"/>
            <a:ext cx="3161665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3690" indent="-300990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313690" algn="l"/>
              </a:tabLst>
            </a:pPr>
            <a:r>
              <a:rPr lang="en-US" altLang="ko-KR" sz="1750" b="1" spc="-10" dirty="0">
                <a:latin typeface="Arial"/>
                <a:cs typeface="Arial"/>
              </a:rPr>
              <a:t>Certificate</a:t>
            </a:r>
            <a:r>
              <a:rPr lang="en-US" altLang="ko-KR" sz="1750" b="1" spc="-75" dirty="0">
                <a:latin typeface="Arial"/>
                <a:cs typeface="Arial"/>
              </a:rPr>
              <a:t> </a:t>
            </a:r>
            <a:r>
              <a:rPr lang="en-US" altLang="ko-KR" sz="1750" b="1" dirty="0">
                <a:latin typeface="Arial"/>
                <a:cs typeface="Arial"/>
              </a:rPr>
              <a:t>of</a:t>
            </a:r>
            <a:r>
              <a:rPr lang="en-US" altLang="ko-KR" sz="1750" b="1" spc="-45" dirty="0">
                <a:latin typeface="Arial"/>
                <a:cs typeface="Arial"/>
              </a:rPr>
              <a:t> </a:t>
            </a:r>
            <a:r>
              <a:rPr lang="en-US" altLang="ko-KR" sz="1750" b="1" spc="-30" dirty="0">
                <a:latin typeface="Arial"/>
                <a:cs typeface="Arial"/>
              </a:rPr>
              <a:t>Conformity</a:t>
            </a:r>
            <a:endParaRPr lang="en-US" altLang="ko-KR" sz="1750" dirty="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10943" y="2045208"/>
            <a:ext cx="3326157" cy="4210048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0"/>
              </a:spcBef>
            </a:pPr>
            <a:r>
              <a:rPr spc="-100" dirty="0"/>
              <a:t>LGS</a:t>
            </a:r>
            <a:r>
              <a:rPr spc="-195" dirty="0"/>
              <a:t> </a:t>
            </a:r>
            <a:r>
              <a:rPr spc="-110" dirty="0"/>
              <a:t>Elevators’</a:t>
            </a:r>
            <a:r>
              <a:rPr spc="-190" dirty="0"/>
              <a:t> </a:t>
            </a:r>
            <a:r>
              <a:rPr spc="-70" dirty="0"/>
              <a:t>Certificates</a:t>
            </a:r>
          </a:p>
        </p:txBody>
      </p:sp>
      <p:pic>
        <p:nvPicPr>
          <p:cNvPr id="6" name="그림 5" descr="텍스트, 스크린샷, 폰트이(가) 표시된 사진">
            <a:extLst>
              <a:ext uri="{FF2B5EF4-FFF2-40B4-BE49-F238E27FC236}">
                <a16:creationId xmlns:a16="http://schemas.microsoft.com/office/drawing/2014/main" id="{25D34EA4-8F00-1667-45BD-B443A932E2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2135" y="2250615"/>
            <a:ext cx="3173757" cy="4004641"/>
          </a:xfrm>
          <a:prstGeom prst="rect">
            <a:avLst/>
          </a:prstGeom>
        </p:spPr>
      </p:pic>
      <p:sp>
        <p:nvSpPr>
          <p:cNvPr id="7" name="object 8">
            <a:extLst>
              <a:ext uri="{FF2B5EF4-FFF2-40B4-BE49-F238E27FC236}">
                <a16:creationId xmlns:a16="http://schemas.microsoft.com/office/drawing/2014/main" id="{0D4544E1-CBCA-3997-C0A9-6A9E19CAB6E3}"/>
              </a:ext>
            </a:extLst>
          </p:cNvPr>
          <p:cNvSpPr/>
          <p:nvPr/>
        </p:nvSpPr>
        <p:spPr>
          <a:xfrm>
            <a:off x="1460501" y="2021924"/>
            <a:ext cx="3173758" cy="4274101"/>
          </a:xfrm>
          <a:custGeom>
            <a:avLst/>
            <a:gdLst/>
            <a:ahLst/>
            <a:cxnLst/>
            <a:rect l="l" t="t" r="r" b="b"/>
            <a:pathLst>
              <a:path w="2646045" h="3987165">
                <a:moveTo>
                  <a:pt x="0" y="3986784"/>
                </a:moveTo>
                <a:lnTo>
                  <a:pt x="2645664" y="3986784"/>
                </a:lnTo>
                <a:lnTo>
                  <a:pt x="2645664" y="0"/>
                </a:lnTo>
                <a:lnTo>
                  <a:pt x="0" y="0"/>
                </a:lnTo>
                <a:lnTo>
                  <a:pt x="0" y="3986784"/>
                </a:lnTo>
                <a:close/>
              </a:path>
            </a:pathLst>
          </a:custGeom>
          <a:ln w="10668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D79B7FFA-E2EC-DF1C-2DFC-EA60D252BD4A}"/>
              </a:ext>
            </a:extLst>
          </p:cNvPr>
          <p:cNvSpPr/>
          <p:nvPr/>
        </p:nvSpPr>
        <p:spPr>
          <a:xfrm>
            <a:off x="5779294" y="2045208"/>
            <a:ext cx="3326156" cy="4250817"/>
          </a:xfrm>
          <a:custGeom>
            <a:avLst/>
            <a:gdLst/>
            <a:ahLst/>
            <a:cxnLst/>
            <a:rect l="l" t="t" r="r" b="b"/>
            <a:pathLst>
              <a:path w="2646045" h="3987165">
                <a:moveTo>
                  <a:pt x="0" y="3986784"/>
                </a:moveTo>
                <a:lnTo>
                  <a:pt x="2645664" y="3986784"/>
                </a:lnTo>
                <a:lnTo>
                  <a:pt x="2645664" y="0"/>
                </a:lnTo>
                <a:lnTo>
                  <a:pt x="0" y="0"/>
                </a:lnTo>
                <a:lnTo>
                  <a:pt x="0" y="3986784"/>
                </a:lnTo>
                <a:close/>
              </a:path>
            </a:pathLst>
          </a:custGeom>
          <a:ln w="10668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99006-DF96-A2AD-97A1-51C1AEF91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4CA3FEBC-FD3F-66C8-6F31-82023898DE68}"/>
              </a:ext>
            </a:extLst>
          </p:cNvPr>
          <p:cNvGrpSpPr/>
          <p:nvPr/>
        </p:nvGrpSpPr>
        <p:grpSpPr>
          <a:xfrm>
            <a:off x="1003300" y="2369821"/>
            <a:ext cx="2810510" cy="4002404"/>
            <a:chOff x="6131052" y="2287523"/>
            <a:chExt cx="2810510" cy="4002404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C08747E5-5DDD-25E6-C5F0-275A59EAD167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34100" y="2290572"/>
              <a:ext cx="2804159" cy="3995927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0CC60F01-0054-2F42-F0BE-8A4B2DAC5AAA}"/>
                </a:ext>
              </a:extLst>
            </p:cNvPr>
            <p:cNvSpPr/>
            <p:nvPr/>
          </p:nvSpPr>
          <p:spPr>
            <a:xfrm>
              <a:off x="6132576" y="2289047"/>
              <a:ext cx="2807335" cy="3999229"/>
            </a:xfrm>
            <a:custGeom>
              <a:avLst/>
              <a:gdLst/>
              <a:ahLst/>
              <a:cxnLst/>
              <a:rect l="l" t="t" r="r" b="b"/>
              <a:pathLst>
                <a:path w="2807334" h="3999229">
                  <a:moveTo>
                    <a:pt x="0" y="3998976"/>
                  </a:moveTo>
                  <a:lnTo>
                    <a:pt x="2807208" y="3998976"/>
                  </a:lnTo>
                  <a:lnTo>
                    <a:pt x="2807208" y="0"/>
                  </a:lnTo>
                  <a:lnTo>
                    <a:pt x="0" y="0"/>
                  </a:lnTo>
                  <a:lnTo>
                    <a:pt x="0" y="3998976"/>
                  </a:lnTo>
                  <a:close/>
                </a:path>
              </a:pathLst>
            </a:custGeom>
            <a:ln w="3175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>
            <a:extLst>
              <a:ext uri="{FF2B5EF4-FFF2-40B4-BE49-F238E27FC236}">
                <a16:creationId xmlns:a16="http://schemas.microsoft.com/office/drawing/2014/main" id="{8E1CBFD0-2E65-202B-03F1-6B636F82B6E0}"/>
              </a:ext>
            </a:extLst>
          </p:cNvPr>
          <p:cNvSpPr txBox="1"/>
          <p:nvPr/>
        </p:nvSpPr>
        <p:spPr>
          <a:xfrm>
            <a:off x="690117" y="1800225"/>
            <a:ext cx="3233420" cy="508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14325" marR="5080" indent="-302260">
              <a:lnSpc>
                <a:spcPct val="102000"/>
              </a:lnSpc>
              <a:spcBef>
                <a:spcPts val="95"/>
              </a:spcBef>
              <a:buFont typeface="Wingdings"/>
              <a:buChar char=""/>
              <a:tabLst>
                <a:tab pos="692150" algn="l"/>
              </a:tabLst>
            </a:pPr>
            <a:r>
              <a:rPr sz="1550" b="1" dirty="0">
                <a:latin typeface="Arial"/>
                <a:cs typeface="Arial"/>
              </a:rPr>
              <a:t>Elevator</a:t>
            </a:r>
            <a:r>
              <a:rPr sz="1550" b="1" spc="40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system</a:t>
            </a:r>
            <a:r>
              <a:rPr sz="1550" b="1" spc="40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CU</a:t>
            </a:r>
            <a:r>
              <a:rPr sz="1550" b="1" spc="5" dirty="0">
                <a:latin typeface="Arial"/>
                <a:cs typeface="Arial"/>
              </a:rPr>
              <a:t> </a:t>
            </a:r>
            <a:r>
              <a:rPr sz="1550" b="1" spc="-10" dirty="0">
                <a:latin typeface="Arial"/>
                <a:cs typeface="Arial"/>
              </a:rPr>
              <a:t>Certificate 	</a:t>
            </a:r>
            <a:r>
              <a:rPr sz="1550" b="1" dirty="0">
                <a:latin typeface="Arial"/>
                <a:cs typeface="Arial"/>
              </a:rPr>
              <a:t>(Russian</a:t>
            </a:r>
            <a:r>
              <a:rPr sz="1550" b="1" spc="35" dirty="0">
                <a:latin typeface="Arial"/>
                <a:cs typeface="Arial"/>
              </a:rPr>
              <a:t> </a:t>
            </a:r>
            <a:r>
              <a:rPr sz="1550" b="1" spc="-10" dirty="0">
                <a:latin typeface="Arial"/>
                <a:cs typeface="Arial"/>
              </a:rPr>
              <a:t>Certification)</a:t>
            </a:r>
            <a:endParaRPr sz="1550" dirty="0">
              <a:latin typeface="Arial"/>
              <a:cs typeface="Arial"/>
            </a:endParaRP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93319A33-8F7F-3138-8F72-5B686687D58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0"/>
              </a:spcBef>
            </a:pPr>
            <a:r>
              <a:rPr spc="-100" dirty="0"/>
              <a:t>LGS</a:t>
            </a:r>
            <a:r>
              <a:rPr spc="-195" dirty="0"/>
              <a:t> </a:t>
            </a:r>
            <a:r>
              <a:rPr spc="-110" dirty="0"/>
              <a:t>Elevators’</a:t>
            </a:r>
            <a:r>
              <a:rPr spc="-190" dirty="0"/>
              <a:t> </a:t>
            </a:r>
            <a:r>
              <a:rPr spc="-70" dirty="0"/>
              <a:t>Certificates</a:t>
            </a:r>
          </a:p>
        </p:txBody>
      </p:sp>
    </p:spTree>
    <p:extLst>
      <p:ext uri="{BB962C8B-B14F-4D97-AF65-F5344CB8AC3E}">
        <p14:creationId xmlns:p14="http://schemas.microsoft.com/office/powerpoint/2010/main" val="23556597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5830</TotalTime>
  <Words>357</Words>
  <Application>Microsoft Office PowerPoint</Application>
  <PresentationFormat>사용자 지정</PresentationFormat>
  <Paragraphs>77</Paragraphs>
  <Slides>24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30" baseType="lpstr">
      <vt:lpstr>맑은 고딕</vt:lpstr>
      <vt:lpstr>Arial</vt:lpstr>
      <vt:lpstr>Calibri</vt:lpstr>
      <vt:lpstr>Times New Roman</vt:lpstr>
      <vt:lpstr>Wingdings</vt:lpstr>
      <vt:lpstr>Office Theme</vt:lpstr>
      <vt:lpstr>Global LGS Member’s Projects (involved)</vt:lpstr>
      <vt:lpstr>LGS Member’s Projects (Involved)</vt:lpstr>
      <vt:lpstr>LGS Member’s Projects (Involved)</vt:lpstr>
      <vt:lpstr>LGS Member’s Projects (Involved)</vt:lpstr>
      <vt:lpstr>LGS Member’s Projects (Involved)</vt:lpstr>
      <vt:lpstr>LGS Member’s Projects (Involved)</vt:lpstr>
      <vt:lpstr>LGS Elevator Korea Signature Projects</vt:lpstr>
      <vt:lpstr>LGS Elevator Signature Projects</vt:lpstr>
      <vt:lpstr>LGS Elevator Signature Projects</vt:lpstr>
      <vt:lpstr>LGS Elevator Signature Projects</vt:lpstr>
      <vt:lpstr>LGS Elevator Signature Projects</vt:lpstr>
      <vt:lpstr>LGS Elevator Signature Projects</vt:lpstr>
      <vt:lpstr>LGS Elevator Signature Projects</vt:lpstr>
      <vt:lpstr>LGS Elevator Signature Projects</vt:lpstr>
      <vt:lpstr>LGS Elevator Signature Projects</vt:lpstr>
      <vt:lpstr>LGS Elevator Signature Projects</vt:lpstr>
      <vt:lpstr>LGS Elevator Signature Projects</vt:lpstr>
      <vt:lpstr>LGS Elevator Signature Projects</vt:lpstr>
      <vt:lpstr>LGS Elevator Signature Projects</vt:lpstr>
      <vt:lpstr>LGS Elevator Signature Projects</vt:lpstr>
      <vt:lpstr>LGS Elevators’ Certificates</vt:lpstr>
      <vt:lpstr>LGS Elevators’ Certificates</vt:lpstr>
      <vt:lpstr>LGS Elevators’ Certificates</vt:lpstr>
      <vt:lpstr>LGS Elevators’ Certificates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PowerPoint - 00_LGS Elevator Korea Introduction_20240628.pptx</dc:title>
  <dc:creator>USER</dc:creator>
  <cp:lastModifiedBy>Asus</cp:lastModifiedBy>
  <cp:revision>15</cp:revision>
  <dcterms:created xsi:type="dcterms:W3CDTF">2024-10-10T05:25:59Z</dcterms:created>
  <dcterms:modified xsi:type="dcterms:W3CDTF">2024-12-25T01:51:55Z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2024-10-10T00:00:00Z</vt:filetime>
  </property>
  <property fmtid="{D5CDD505-2E9C-101B-9397-08002B2CF9AE}" pid="3" name="LastSaved">
    <vt:filetime>2024-10-10T00:00:00Z</vt:filetime>
  </property>
  <property fmtid="{D5CDD505-2E9C-101B-9397-08002B2CF9AE}" pid="4" name="Producer">
    <vt:lpwstr>GPL Ghostscript 9.20</vt:lpwstr>
  </property>
</Properties>
</file>